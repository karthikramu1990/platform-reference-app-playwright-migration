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92000" cy="2834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069080"/>
            <a:ext cx="12192000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Reference 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Migration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Java  →  TypeScript + Playwright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  |  Invicara  |  2025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Framework Architecture &amp; Features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Migrate?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with Selenium Java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Playwright + TS?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and motivation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37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structure, patterns &amp; design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976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+ Test Class pattern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21208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2578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5257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Data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5623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switching &amp; test data management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4173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951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951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Trace, Visual Testing, Allure, Hooks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33172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3774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951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Overview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9516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 across 7 feature suites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29184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337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9516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Comparison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9516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Java vs Playwright side-by-side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425196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2976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9516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9516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walkthrough of the framework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Migrate?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with Selenium Java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11612880" cy="713232"/>
          </a:xfrm>
          <a:prstGeom prst="roundRect">
            <a:avLst>
              <a:gd name="adj" fmla="val 1025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624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Verbose &amp; Boilerplate-Heavy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required extensive setup: WebDriverManager, waits, browser factories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1612880" cy="713232"/>
          </a:xfrm>
          <a:prstGeom prst="roundRect">
            <a:avLst>
              <a:gd name="adj" fmla="val 1025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854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Flaky Tests &amp; Synchronisation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963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explicit/implicit waits led to race conditions and false failures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11612880" cy="713232"/>
          </a:xfrm>
          <a:prstGeom prst="roundRect">
            <a:avLst>
              <a:gd name="adj" fmla="val 1025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083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Slow Execution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parallel test runner; third-party tools (TestNG/JUnit) added complexity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11612880" cy="713232"/>
          </a:xfrm>
          <a:prstGeom prst="roundRect">
            <a:avLst>
              <a:gd name="adj" fmla="val 1025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31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Limited Modern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422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video, trace, visual testing, or network interception out of the box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11612880" cy="713232"/>
          </a:xfrm>
          <a:prstGeom prst="roundRect">
            <a:avLst>
              <a:gd name="adj" fmla="val 1025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542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Complex Reporting Setup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9651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integration required many extra libraries and manual configuration steps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5440680"/>
            <a:ext cx="11612880" cy="713232"/>
          </a:xfrm>
          <a:prstGeom prst="roundRect">
            <a:avLst>
              <a:gd name="adj" fmla="val 1025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4772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Maintenance Overhead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7881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version mismatches with browser updates caused constant breakage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Playwright + TypeScript?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reliable, and feature-rich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6245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Auto-Wait Built-In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36245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waits for elements automatically - no manual waits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TypeScript Type Safety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02996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error detection, IntelliSense, and better IDE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60904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Rich Built-in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697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Trace, Screenshots, Visual Testing - zero extra libraries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649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Fast &amp; Reliable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36499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Out-of-process browser control; much less flakiness than Selenium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95928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325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Allure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403250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allure-playwright reporter with step logging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0001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Network Interception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470001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API calls, mock responses - directly in test code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330952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675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Single Tool Chain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536752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test - one command to discover, run, and report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5998464"/>
            <a:ext cx="11612880" cy="566928"/>
          </a:xfrm>
          <a:prstGeom prst="roundRect">
            <a:avLst>
              <a:gd name="adj" fmla="val 12903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035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No Driver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6035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WebDriver version mismatch - Playwright manages browsers internally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- layered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1612880" cy="731520"/>
          </a:xfrm>
          <a:prstGeom prst="roundRect">
            <a:avLst>
              <a:gd name="adj" fmla="val 12500"/>
            </a:avLst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1417320"/>
            <a:ext cx="2743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RunnerClass.spec.ts  --  single entry point, serial execution, shared browser 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1161288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219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 Layer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267712"/>
            <a:ext cx="2743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22219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 Classes  --  one per feature area, orchestrate page objects, manage flow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11612880" cy="731520"/>
          </a:xfrm>
          <a:prstGeom prst="roundRect">
            <a:avLst>
              <a:gd name="adj" fmla="val 12500"/>
            </a:avLst>
          </a:prstGeom>
          <a:solidFill>
            <a:srgbClr val="0277B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7238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Layer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2743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307238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Page Objects  --  encapsulate locators, expose high-level action methods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31336"/>
            <a:ext cx="11612880" cy="731520"/>
          </a:xfrm>
          <a:prstGeom prst="roundRect">
            <a:avLst>
              <a:gd name="adj" fmla="val 12500"/>
            </a:avLst>
          </a:prstGeom>
          <a:solidFill>
            <a:srgbClr val="01579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2277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Layer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3968496"/>
            <a:ext cx="2743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92277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 + TestData.json  --  environment URLs, credentials, test inputs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681728"/>
            <a:ext cx="11612880" cy="731520"/>
          </a:xfrm>
          <a:prstGeom prst="roundRect">
            <a:avLst>
              <a:gd name="adj" fmla="val 12500"/>
            </a:avLst>
          </a:prstGeom>
          <a:solidFill>
            <a:srgbClr val="00606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7316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Layer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4818888"/>
            <a:ext cx="2743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47731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pixelmatch (visual diff)  |  allure steps  |  file path helpers  |  React-Select helper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532120"/>
            <a:ext cx="11612880" cy="731520"/>
          </a:xfrm>
          <a:prstGeom prst="roundRect">
            <a:avLst>
              <a:gd name="adj" fmla="val 12500"/>
            </a:avLst>
          </a:prstGeom>
          <a:solidFill>
            <a:srgbClr val="004D4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623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49040" y="5669280"/>
            <a:ext cx="27432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5623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allure-playwright  |  global-teardown auto-generates timestamped HTML report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and scalable project layout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557784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5349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reference-app/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page/          &lt;- 9 Page Objects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spec/          &lt;- 7 Test Classes + Runner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testdata/      &lt;- config.json, TestData.json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files/             &lt;- BIM models, PDFs, images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imagevalidation/   &lt;- 70+ visual reference PNGs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allure-results/    &lt;- Raw test result JSONs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allure-report/     &lt;- Generated HTML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           &lt;- Timestamped report archive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playwright.config.ts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global-teardown.ts &lt;- Auto report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generate-allure-report.js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tsconfig.json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612648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716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tests/ root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17627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code in one discoverable root - Playwright auto-discovers .spec.ts files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6791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page/ vs spec/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93522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split: page objects own selectors; spec files own test logic - no mixing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4381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testdata/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69417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JSON-driven data keeps tests data-independent; swap environments by changing one key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1970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files/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445312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BIM models and documents stored for reproducible file upload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495604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imagevalidation/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521208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reference PNGs enable pixel-perfect visual regression with pixelmatch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5715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reports/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597103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archives preserve history of every run automatically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of UI interactions - 9 Page Objects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594360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577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Private Locator properties per page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Public async action methods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Robust selectors: getByRole(), getByText(), locator()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React-Select generic helper method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 upload via waitForEvent("filechooser")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Try-catch per method with console logging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Pixel-level visual assertion with pixelmatch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Allure step logging via logStep()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Network idle waits for dynamic 3D content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- 65+ locators in NavigatorPage alone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234440"/>
            <a:ext cx="5760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Page Objects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8745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LoginPage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3720" y="21031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interactions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24231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ProjectSelectionPage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6517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dropdown &amp; selection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HomePage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32004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navigation &amp; menu routing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0" y="35204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NavigatorPage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37490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locators, 3D model, GIS, warranty, telemetry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40690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ModelElementPage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42976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filtering &amp; property inspection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46177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FilesPage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48463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rename, delete, folder 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0" y="51663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ManageModelPage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53949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model import &amp; Mapbox configuration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0" y="57150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UserGroupPage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59436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invite &amp; group management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75120" y="62636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GenericRestConnecterPage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64922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connector configuration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 Pattern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 separating test logic from UI 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749808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 Classes (Feature Orchestrators)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10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LoginintoTheApplicationTest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project selection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69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8072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- 3D model, GIS, warranty, telemetry, file ops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91256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278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ModelElementTest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6557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- element filtering, properties, warranty, telemetry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86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FilesMenuTest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12394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- file upload/delete, folder creation, multi-file 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07992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5445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AdminUserGroupTest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78231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- invite, view pending, remove invitations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166360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2029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ManageModelTest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54406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  - BIM model import &amp; Mapbox activation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824728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8613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GenericRestConnectorTest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609904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  - REST connector configuration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1234440"/>
            <a:ext cx="4206240" cy="52578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Pattern?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1920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Single entry point (RunnerClass) for clean CI execution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26700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Feature-isolated test classes - easy maintenance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34198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Shared browser context passed via constructor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1696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Feature flags prevent dependent tests from running on failure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919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Separation of concerns: test logic vs UI code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56692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Easy to add new feature modules without touching runner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Test Data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JSON-driven, environment-aware 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5943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 - Environment Config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Env selector: "qa2" | "staging"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Per-env URLs, project names, user groups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Login credentials (Rfusername / RfPassword)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Headless flag: "yes" / "no" toggle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Browser config driven from playwright.config.ts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931920"/>
            <a:ext cx="5943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69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TestData.json - Centralised Test Inputs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ModelElement: 4 objects (category, type, property)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FilesRename: 3 files with target folder names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WarrantyDetails: 2 entries with dates &amp; durations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ManageModel: Mapbox credentials &amp; scopes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GIS: 5 map styles, elevation &amp; camera configs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TwoDfloorDetails: 2D floor plan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GenericRestConnector: connector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Collection-User group: invite email address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234440"/>
            <a:ext cx="5760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JSON-Driven Data?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One-click env switch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17627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"Env": "qa2" to "staging" to run against a different environment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715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No hardcoding in tests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9718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in one file - tests are data-agnostic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51129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Reusable across suites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76732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TestData.json consumed by 7 different test classes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30682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Real file assets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56285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reference PNGs + BIM models stored for reproducible runs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510235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Non-dev friendly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535838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can adjust test data without touching TypeScript files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5897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CI/CD 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615391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param can be injected via env var for pipeline runs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Feature: Artefact Collection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|  Trace  |  Screenshots  -  Zero extra 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3840480" cy="5212080"/>
          </a:xfrm>
          <a:prstGeom prst="roundRect">
            <a:avLst>
              <a:gd name="adj" fmla="val 2857"/>
            </a:avLst>
          </a:prstGeom>
          <a:solidFill>
            <a:srgbClr val="F3E5F5"/>
          </a:solidFill>
          <a:ln w="19050">
            <a:solidFill>
              <a:srgbClr val="4A14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3840480" cy="822960"/>
          </a:xfrm>
          <a:prstGeom prst="roundRect">
            <a:avLst>
              <a:gd name="adj" fmla="val 13333"/>
            </a:avLst>
          </a:prstGeom>
          <a:solidFill>
            <a:srgbClr val="4A148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Recording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Config: video: 'on'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Every test run captured as MP4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Stored in C:/pw-test-results/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Auto-attached to Allure report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Invaluable for debugging race conditions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1280160"/>
            <a:ext cx="3840480" cy="5212080"/>
          </a:xfrm>
          <a:prstGeom prst="roundRect">
            <a:avLst>
              <a:gd name="adj" fmla="val 2857"/>
            </a:avLst>
          </a:prstGeom>
          <a:solidFill>
            <a:srgbClr val="E8EAF6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280160"/>
            <a:ext cx="3840480" cy="822960"/>
          </a:xfrm>
          <a:prstGeom prst="roundRect">
            <a:avLst>
              <a:gd name="adj" fmla="val 13333"/>
            </a:avLst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Recording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Config: trace: 'retain-on-failure'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DOM snapshots at every action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7947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Full network request log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63440" y="45720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Playwright Inspector playback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53492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Pinpoints exact line of failure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95360" y="1280160"/>
            <a:ext cx="3840480" cy="5212080"/>
          </a:xfrm>
          <a:prstGeom prst="roundRect">
            <a:avLst>
              <a:gd name="adj" fmla="val 2857"/>
            </a:avLst>
          </a:prstGeom>
          <a:solidFill>
            <a:srgbClr val="E0F7FA"/>
          </a:solidFill>
          <a:ln w="19050">
            <a:solidFill>
              <a:srgbClr val="0060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0" y="1280160"/>
            <a:ext cx="3840480" cy="822960"/>
          </a:xfrm>
          <a:prstGeom prst="roundRect">
            <a:avLst>
              <a:gd name="adj" fmla="val 13333"/>
            </a:avLst>
          </a:prstGeom>
          <a:solidFill>
            <a:srgbClr val="006064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0" y="22402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Auto: screenshot: 'only-on-failure'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778240" y="30175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Manual: page.screenshot() in tests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78240" y="37947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Used for telemetry visual verification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45720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Saved to screenshots/ folder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778240" y="53492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Attached to Allure report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Feature: Allure Reporting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timestamped, rich HTML reports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53035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Configuration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reporter: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['allure-playwright',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detail: 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outputFolder: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'./allure-results',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suiteTitle: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attachmentsBase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Directory: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'./allure-results'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['list']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globalTeardown: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'./global-teardown.ts'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234440"/>
            <a:ext cx="640080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371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19202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Auto-Generation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15798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global-teardown.ts fires after every run - report created automatically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578608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Timestamped Archive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8163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run: reports/YYYY-MM-DD_HH-MM-SS/allure-report.html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236976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Video Attachments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474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recordings embedded directly in each test result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895344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Screenshot Links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413308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&amp; manual screenshots linked to test steps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455371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Step-Level Logging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479145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logStep() writes human-readable steps to each Allure test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521208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Suite Organisation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44982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suiteTitle:true groups tests by describe block in 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5870448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Single-File HTML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61081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generate-allure-report.js bundles to one self-contained file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Feature: Pixel-Perfect Visual Testing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image comparison with pixelmatch library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11978640" cy="1371600"/>
          </a:xfrm>
          <a:prstGeom prst="roundRect">
            <a:avLst>
              <a:gd name="adj" fmla="val 6667"/>
            </a:avLst>
          </a:prstGeom>
          <a:solidFill>
            <a:srgbClr val="E8EAF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Visual Validation Process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190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Collapse UI panels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3D canvas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70048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1719072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816352" y="17190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page.screenshot()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full-page PNG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75504" y="1719072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17190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Load reference PNG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imagevalidation/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88352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34656" y="1719072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534656" y="17190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pixelmatch compare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10px steps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47504" y="1920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93808" y="1719072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9893808" y="17190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PASS / FAIL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threshold allowed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59436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5292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Library: pixelmatch v7 + pngjs v7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Sliding window search (10-pixel steps)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Threshold: 40% pixel difference tolerance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Reference images: 70+ PNGs in imagevalidation/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NavigatorPage.verifyingModelImage() method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isImageFound(actual, expected) helper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Covers: 3D models, GIS views, 2D floor plans,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annotations, elevation modes, camera positions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57607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85292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Visual Testing Validates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337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3D Model rendering in Navigator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75120" y="37764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GIS map style changes (5 styles)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75120" y="421538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Elevation mode toggle validation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675120" y="465429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Camera position presets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509320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2D floor plan display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75120" y="5532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Annotation overlays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75120" y="59710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Telemetry chart screenshots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Feature: Shared Browser Context &amp; Serial Execution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auth session across all 20 tests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2044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once)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8368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sharedPage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4692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9646920" y="1280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closed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68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 Setup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5577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browser.newContext({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viewport: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ignoreHTTPSErrors: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Navigate once to app 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sharedPage.goto(RfUrl,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waitUntil: 'networkidle',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60000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 20 tests reuse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same sharedPage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331720"/>
            <a:ext cx="57607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468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afterAll Cleanup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2926080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Abort all pending routes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154680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page.route('**/*', r =&gt; r.abort())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502152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Navigate to blank page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730752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page.goto('about:blank')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4078224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8-second close timeout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4306824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Promise.race([context.close(), timeout(8000)])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654296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Prevents hanging tests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4882896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clean teardown even on network issues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5230368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HTTPS cert bypass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5458968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ignoreHTTPSErrors:true for dev/QA environments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5806440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No re-login overhead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6035040"/>
            <a:ext cx="5394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 persists across all 20 test cases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Feature: Global Teardown &amp; Auto Report Generation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steps - reports appear automatically after every 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  All Tests Complete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global-teardown.ts fires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88336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8833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Check allure-results/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92424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9242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Run generate-allure-report.js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09651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9651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Timestamp the filename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80060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006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Save to allure-report/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5504688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50468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Clean temp files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1234440"/>
            <a:ext cx="649224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3716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19202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Auto-archived reports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216712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saved with timestamp - full history preserved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0" y="26700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Single-file HTML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2916936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allure-report.html - no server needed to view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0" y="341985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globalTeardown config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3666744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playwright.config.ts: globalTeardown: './global-teardown.ts'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0" y="416966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Temp file cleanup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4416552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generate-allure-report.js cleans intermediate files post-build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43600" y="491947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CI/CD compatible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516636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 as part of pipeline - no human intervention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0" y="5669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Easy distribution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591616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can be emailed or attached to JIRA tickets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Feature: Timeout Strategy &amp; Error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timeouts + safe method-level error recovery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594360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Timeout Strategy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10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test timeout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9110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300s (5 min)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BIM model operations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51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timeout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2551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 &amp; URL navigations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912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timeout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31912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interactions (click, fill)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31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timeout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38313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checks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4714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selection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44714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47091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project load wait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07492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1114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83280" y="51114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4360" y="53492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BIM model processing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7150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57515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close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83280" y="5751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 max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598932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teardown with Promise.race()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1234440"/>
            <a:ext cx="5760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Patterns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1920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try-catch per method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216712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method catches exceptions - test continues, logs to console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267919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.catch(()=&gt;false)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29260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visibility checks: isVisible().catch(()=&gt;false) avoids crashes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4381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Feature flags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368503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AdminUserGroupTest.flag skips later steps if invite fails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41970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Conditional branches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75120" y="444398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cancel button visible before clicking telemetry controls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75120" y="495604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networkidle waits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520293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waitUntil:'networkidle' for dynamic 3D content - no arbitrary sleep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75120" y="57150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Promise.race()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75120" y="596188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close with 8s timeout - no infinite hang on teardown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  |  7 feature suites  |  Serial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8016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1A237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3502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Login &amp; Project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3350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application, Select project from dropdown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9748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7523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Navigator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7523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17296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Details, Model Image (visual), Warranty Data, Telemetry REST API, Telemetry MQTT, Upload &amp; Delete 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11480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0277BD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1696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Model Elements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41696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59028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Details, Upload &amp; Delete Files, Warranty Data, Telemetry REST API, Telemetry MQTT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553212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53212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01579B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55869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Files Menu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55869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600760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Rename Delete, Create Folder &amp; Handle Files, Multi-File 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128016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128016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006064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133502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Admin User Group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881360" y="13350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175564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Invites, View Pending Invites, Remove Invitations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269748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69748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004D40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27523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Manage Model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881360" y="27523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317296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Activation &amp; BIM model import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4114800"/>
            <a:ext cx="5943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4114800"/>
            <a:ext cx="5943600" cy="438912"/>
          </a:xfrm>
          <a:prstGeom prst="roundRect">
            <a:avLst>
              <a:gd name="adj" fmla="val 20833"/>
            </a:avLst>
          </a:prstGeom>
          <a:solidFill>
            <a:srgbClr val="37474F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41696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Generic REST Connector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881360" y="41696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29400" y="4590288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configure REST connector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Java vs Playwright TypeScript  -  side by side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228600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801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438912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28016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Java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234440"/>
            <a:ext cx="448056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22592" y="1280160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TypeScript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18488"/>
            <a:ext cx="2286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6420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618488"/>
            <a:ext cx="4389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664208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(verbose, boilerplate)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618488"/>
            <a:ext cx="4480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1664208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(type-safe, concise)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00253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04825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Control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002536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2048256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via WebDriver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002536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2048256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Out-of-process (faster, stable)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386584"/>
            <a:ext cx="2286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43230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Handling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2386584"/>
            <a:ext cx="4389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243230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explicit/implicit waits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2386584"/>
            <a:ext cx="4480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2432304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auto-wait - zero manual waits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77063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81635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Recording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2770632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2816352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(not built-in)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2770632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2816352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- video:'on' in config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154680"/>
            <a:ext cx="2286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20040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 Debug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3154680"/>
            <a:ext cx="4389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320040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equivalent tool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3154680"/>
            <a:ext cx="4480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22592" y="3200400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Trace Inspector built-in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5387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58444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60320" y="3538728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33472" y="3584448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Ashot (extra dependency)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49440" y="3538728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3584448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pixelmatch + page.screenshot() native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922776"/>
            <a:ext cx="2286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96849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560320" y="3922776"/>
            <a:ext cx="4389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33472" y="3968496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+ TestNG + many libs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49440" y="3922776"/>
            <a:ext cx="4480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2592" y="3968496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allure-playwright - 1 plugin only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3068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35254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60320" y="4306824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33472" y="435254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class / AutoIT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949440" y="4306824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22592" y="4352544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waitForEvent("filechooser")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690872"/>
            <a:ext cx="2286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736592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Control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60320" y="4690872"/>
            <a:ext cx="4389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33472" y="4736592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proxy / 3rd party tools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949440" y="4690872"/>
            <a:ext cx="4480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22592" y="4736592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page.route() built-in interception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50749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512064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Mgmt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560320" y="5074920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33472" y="512064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files / TestNG XML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49440" y="5074920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22592" y="5120640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playwright.config.ts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74320" y="5458968"/>
            <a:ext cx="2286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550468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Speed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560320" y="5458968"/>
            <a:ext cx="4389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33472" y="5504688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(WebDriver process overhead)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949440" y="5458968"/>
            <a:ext cx="4480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22592" y="5504688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(direct browser protocol)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4320" y="5843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" y="5888736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Management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560320" y="5843016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33472" y="5888736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version mismatch issues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949440" y="5843016"/>
            <a:ext cx="4480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22592" y="5888736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management ever needed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4320" y="6227064"/>
            <a:ext cx="22860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7472" y="6272784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Support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560320" y="6227064"/>
            <a:ext cx="43891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33472" y="627278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(Java IDEs)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949440" y="6227064"/>
            <a:ext cx="44805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22592" y="6272784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(VS Code + Playwright ext)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1" name="Text 89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framework production-grade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80160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Solid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+ Test Class pattern - 9 page objects, 7 test classes, 1 runner entry point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624328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15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Full Artefact Collection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(every run) + Trace (on failure) + Screenshots - all auto-attached to Allure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968496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599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Visual Regression Testing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25696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reference images validated with pixelmatch - pixel-level accuracy for 3D/GIS views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5312664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4041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Rich Allure Reporting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769864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timestamped, single-file HTML with video, steps, and suite grouping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280160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371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Reliable Serial Execution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173736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mode + shared context = fast login-once, stable stateful chain of 20 tests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2624328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715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Flexible Configuration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081528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change switches environments - CI/CD ready without code changes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3968496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0599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Robust Error Handling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425696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per method, feature flags, safe visibility checks - no one failure crashes suite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5312664"/>
            <a:ext cx="58521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4041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Comprehensive Coverage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5769864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 across 3D models, GIS, telemetry (REST+MQTT), files, user admin, REST connectors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Invicara | Platform Reference App Automation |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12192000" cy="3474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0"/>
            <a:ext cx="12192000" cy="914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  |  karthik.r@invicara.com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Reference App - Playwright TypeScript Automation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Playwright 1.59  |  TypeScript 6  |  Allure 3.7  |  pixelmatch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Invicara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Reference App - Automation Migration</dc:title>
  <dc:subject>Selenium Java to Playwright TypeScript Migration</dc:subject>
  <dc:creator>Karthik Ramu</dc:creator>
  <cp:lastModifiedBy>Karthik Ramu</cp:lastModifiedBy>
  <cp:revision>1</cp:revision>
  <dcterms:created xsi:type="dcterms:W3CDTF">2026-04-20T13:09:42Z</dcterms:created>
  <dcterms:modified xsi:type="dcterms:W3CDTF">2026-04-20T13:09:42Z</dcterms:modified>
</cp:coreProperties>
</file>