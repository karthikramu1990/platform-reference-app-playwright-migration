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 Ramu" userId="2bdfb3d6-0447-45f9-ae59-857dea1c060b" providerId="ADAL" clId="{CF864B97-E68A-44E3-8E44-37AEAEEFBABB}"/>
    <pc:docChg chg="modSld sldOrd">
      <pc:chgData name="Karthik Ramu" userId="2bdfb3d6-0447-45f9-ae59-857dea1c060b" providerId="ADAL" clId="{CF864B97-E68A-44E3-8E44-37AEAEEFBABB}" dt="2026-05-28T08:54:19.746" v="1"/>
      <pc:docMkLst>
        <pc:docMk/>
      </pc:docMkLst>
      <pc:sldChg chg="ord">
        <pc:chgData name="Karthik Ramu" userId="2bdfb3d6-0447-45f9-ae59-857dea1c060b" providerId="ADAL" clId="{CF864B97-E68A-44E3-8E44-37AEAEEFBABB}" dt="2026-05-28T08:54:19.746" v="1"/>
        <pc:sldMkLst>
          <pc:docMk/>
          <pc:sldMk cId="453207427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1222-4A6C-1D7F-C046-DAC9A5A4C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EB05A-0DD1-F931-F610-CD0558F79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8AFB6-F914-7308-BD8A-9A0AA459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652F3-10C3-0AB4-77A2-AA182116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663A6-9CC4-D21C-771B-EC0505D5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28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E056-1A57-908F-94DB-CA9218D9F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81921-D150-91A8-B730-F8A7004EA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B3E64-066F-F818-89C9-BB15C8F6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BF581-611C-8E3C-51C2-2F269074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7C927-0B8F-2E8D-B924-4667684A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8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F8E17-AABA-3710-4AE1-A9926AADD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07002-8821-913F-D350-EAC94B7DD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EC3EE-A73E-FA26-0DD7-F2B80F2F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3D83A-0A62-54E8-BBFC-AA840675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29415-02CD-8DB2-4BA2-AFBCC4EC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222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646E-A229-8C83-E752-EA7A6D4C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8EA40-A8A1-FE6D-08AB-6D8F80E04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BCC06-9961-DBB1-5F09-49F044452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89504-45B7-6DC3-1A3F-5239E352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0D986-42A0-87C4-86A1-9F02EF6C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209A1-772C-DDF0-6714-9945999E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10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F29D-756A-3D03-4E22-D33ABCAAF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211A8-78A4-C2AC-0FB7-21486F9C8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32595-D3AF-B3D6-2794-5611740A9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81574-429A-B816-7EBF-F3DC59BAD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20424E-148C-0B4C-5ABA-D2CBDF746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79E22-E57A-A84D-A506-A8AC6E4E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66ECA-A866-25D4-0807-A39178BC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15454-E0C0-0CE5-11D2-3F2D0616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30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78DE-18C8-ABDF-D898-95356783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98244-9E52-124C-F136-46766FB7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5C905-44F0-101D-B510-ABC0DDEA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EB9EE-FFA4-15C7-15B9-3412DC7E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042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B532A-EBE0-1F04-29A0-9BA2EE52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C3A76-8AA8-9006-A92E-7ECAB2D1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E0E24-3678-E5FE-01BF-4AAC22C6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95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320C-39A3-1098-25A4-E9610850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E84E5-95A9-349C-03F2-0BBF0681E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05F62-9AE4-A535-FD8A-0C2B34DB9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626C9-E8E8-56BC-C3FE-00C8C6C7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CE311-9C41-D65C-3136-13070DDE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9789C-0107-43A9-4EA9-E3E8BB89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626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1C2EC-5D24-2691-D600-006445B2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6FB0B-AFC5-D6C1-3922-71C54750E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E2A20-AAFF-92A3-0673-2D30E283E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69C8D-9AC6-0643-827A-6396FB31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E8C65-228D-7005-6170-29B2901B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2DBC4-310E-7232-FBAA-AC8A74D0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73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8CA5-49AD-8CF8-CE95-760BF55B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129DA-D0D7-1B1F-EB28-898FE3B53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0D9E-55ED-889F-C9F8-A775F08B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55F37-1EC1-C4D6-99D0-0BE3A9CC0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65CB6-5C2D-F9D1-A40A-3C99D298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8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76A8E-2B88-0CC2-A9B5-64F977FF6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EE4DE-9591-F1F8-3B31-A9FF18C17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A4AF6-C55F-0427-3AA8-CE8CBE13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74060-84C0-7740-1D33-621ECE52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3515C-D398-FE5A-3B06-1AE59515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7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D8A0F5-08F7-89B4-93CC-C3E4EB49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6B346-4B00-8243-2C0A-915D0FBDC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05B2B-9DF2-1839-1693-77517F705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58797-C99A-4BB7-B361-A5A3FDB081D4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CCBDB-D83A-6A71-8D88-D981A0F99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BE580-1507-D727-D60F-CA8851A0C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36B68-0F30-4078-9DF7-B9D4C059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3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340169-1EF9-C63F-A0DB-422F934B42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9B391B-EF7B-6FF9-2B22-D934DD09DF7F}"/>
              </a:ext>
            </a:extLst>
          </p:cNvPr>
          <p:cNvSpPr/>
          <p:nvPr/>
        </p:nvSpPr>
        <p:spPr>
          <a:xfrm>
            <a:off x="0" y="5080000"/>
            <a:ext cx="12192000" cy="1016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84796-38DB-C0D8-8C00-E63CF18C1BA5}"/>
              </a:ext>
            </a:extLst>
          </p:cNvPr>
          <p:cNvSpPr/>
          <p:nvPr/>
        </p:nvSpPr>
        <p:spPr>
          <a:xfrm>
            <a:off x="0" y="5181600"/>
            <a:ext cx="12192000" cy="1676400"/>
          </a:xfrm>
          <a:prstGeom prst="rect">
            <a:avLst/>
          </a:prstGeom>
          <a:solidFill>
            <a:srgbClr val="0E20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F5A27-B8A9-95B7-2545-78598FA9644A}"/>
              </a:ext>
            </a:extLst>
          </p:cNvPr>
          <p:cNvSpPr txBox="1"/>
          <p:nvPr/>
        </p:nvSpPr>
        <p:spPr>
          <a:xfrm>
            <a:off x="762000" y="127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6000" b="1">
                <a:solidFill>
                  <a:srgbClr val="FFFFFF"/>
                </a:solidFill>
                <a:latin typeface="Segoe UI" panose="020B0502040204020203" pitchFamily="34" charset="0"/>
              </a:rPr>
              <a:t>IAF Viewer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7E9C6-E74B-956F-B52B-3091E9B3B6F0}"/>
              </a:ext>
            </a:extLst>
          </p:cNvPr>
          <p:cNvSpPr txBox="1"/>
          <p:nvPr/>
        </p:nvSpPr>
        <p:spPr>
          <a:xfrm>
            <a:off x="762000" y="2260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3600">
                <a:solidFill>
                  <a:srgbClr val="AED6F1"/>
                </a:solidFill>
                <a:latin typeface="Segoe UI" panose="020B0502040204020203" pitchFamily="34" charset="0"/>
              </a:rPr>
              <a:t>Automated Test Suite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12915-C3E7-8E13-45D7-E78FD90AC557}"/>
              </a:ext>
            </a:extLst>
          </p:cNvPr>
          <p:cNvSpPr txBox="1"/>
          <p:nvPr/>
        </p:nvSpPr>
        <p:spPr>
          <a:xfrm>
            <a:off x="762000" y="330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>
                <a:solidFill>
                  <a:srgbClr val="B4C6E7"/>
                </a:solidFill>
                <a:latin typeface="Segoe UI" panose="020B0502040204020203" pitchFamily="34" charset="0"/>
              </a:rPr>
              <a:t>Playwright End-to-End Testing  |  4 Modules  |  54 Test Cases</a:t>
            </a:r>
            <a:endParaRPr lang="en-IN">
              <a:solidFill>
                <a:srgbClr val="B4C6E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1FDE2-08B6-2CB0-E593-7CD9EB5221D8}"/>
              </a:ext>
            </a:extLst>
          </p:cNvPr>
          <p:cNvSpPr txBox="1"/>
          <p:nvPr/>
        </p:nvSpPr>
        <p:spPr>
          <a:xfrm>
            <a:off x="762000" y="5588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400">
                <a:solidFill>
                  <a:srgbClr val="92B0CD"/>
                </a:solidFill>
                <a:latin typeface="Segoe UI" panose="020B0502040204020203" pitchFamily="34" charset="0"/>
              </a:rPr>
              <a:t>Karthik Ramu  |  Invicara  |  May 2026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B4B860-454A-6024-9B04-2440DD6D3314}"/>
              </a:ext>
            </a:extLst>
          </p:cNvPr>
          <p:cNvSpPr/>
          <p:nvPr/>
        </p:nvSpPr>
        <p:spPr>
          <a:xfrm>
            <a:off x="2159000" y="4445000"/>
            <a:ext cx="177800" cy="177800"/>
          </a:xfrm>
          <a:prstGeom prst="ellipse">
            <a:avLst/>
          </a:prstGeom>
          <a:solidFill>
            <a:srgbClr val="466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85F977-5518-E1B2-7CD9-2514DC9F3265}"/>
              </a:ext>
            </a:extLst>
          </p:cNvPr>
          <p:cNvSpPr/>
          <p:nvPr/>
        </p:nvSpPr>
        <p:spPr>
          <a:xfrm>
            <a:off x="3683000" y="4445000"/>
            <a:ext cx="177800" cy="177800"/>
          </a:xfrm>
          <a:prstGeom prst="ellipse">
            <a:avLst/>
          </a:prstGeom>
          <a:solidFill>
            <a:srgbClr val="466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BCC31A-0ABA-6A87-702F-8BC0CA4A9042}"/>
              </a:ext>
            </a:extLst>
          </p:cNvPr>
          <p:cNvSpPr/>
          <p:nvPr/>
        </p:nvSpPr>
        <p:spPr>
          <a:xfrm>
            <a:off x="5207000" y="4445000"/>
            <a:ext cx="177800" cy="1778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981D93-08E7-555A-222E-82D3E6EEC155}"/>
              </a:ext>
            </a:extLst>
          </p:cNvPr>
          <p:cNvSpPr/>
          <p:nvPr/>
        </p:nvSpPr>
        <p:spPr>
          <a:xfrm>
            <a:off x="6731000" y="4445000"/>
            <a:ext cx="177800" cy="177800"/>
          </a:xfrm>
          <a:prstGeom prst="ellipse">
            <a:avLst/>
          </a:prstGeom>
          <a:solidFill>
            <a:srgbClr val="466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12C081-4C33-AE15-8FA5-5AF80034A21E}"/>
              </a:ext>
            </a:extLst>
          </p:cNvPr>
          <p:cNvSpPr/>
          <p:nvPr/>
        </p:nvSpPr>
        <p:spPr>
          <a:xfrm>
            <a:off x="8255000" y="4445000"/>
            <a:ext cx="177800" cy="177800"/>
          </a:xfrm>
          <a:prstGeom prst="ellipse">
            <a:avLst/>
          </a:prstGeom>
          <a:solidFill>
            <a:srgbClr val="466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66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6A921-0C19-E655-E339-D61954437D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9BEBF3-16D7-5284-382B-17D1516EDFAA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9586CE-D0A6-6266-3F93-B372F46CC3E8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FBFFE1-1678-EAEB-A92C-E9D490CCCA4A}"/>
              </a:ext>
            </a:extLst>
          </p:cNvPr>
          <p:cNvSpPr/>
          <p:nvPr/>
        </p:nvSpPr>
        <p:spPr>
          <a:xfrm>
            <a:off x="0" y="101600"/>
            <a:ext cx="101600" cy="67564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9A705-ECB5-5A85-BF15-C1DDCE7E4743}"/>
              </a:ext>
            </a:extLst>
          </p:cNvPr>
          <p:cNvSpPr/>
          <p:nvPr/>
        </p:nvSpPr>
        <p:spPr>
          <a:xfrm>
            <a:off x="4064000" y="0"/>
            <a:ext cx="8128000" cy="1016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8F8FC-6D4B-25E7-0F3A-9B660533660A}"/>
              </a:ext>
            </a:extLst>
          </p:cNvPr>
          <p:cNvSpPr txBox="1"/>
          <p:nvPr/>
        </p:nvSpPr>
        <p:spPr>
          <a:xfrm>
            <a:off x="254000" y="3810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3000" b="1">
                <a:solidFill>
                  <a:srgbClr val="16305C"/>
                </a:solidFill>
                <a:latin typeface="Segoe UI" panose="020B0502040204020203" pitchFamily="34" charset="0"/>
              </a:rPr>
              <a:t>Agenda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BBB832-5C67-34C1-ECD2-15D6EF1C3C44}"/>
              </a:ext>
            </a:extLst>
          </p:cNvPr>
          <p:cNvSpPr txBox="1"/>
          <p:nvPr/>
        </p:nvSpPr>
        <p:spPr>
          <a:xfrm>
            <a:off x="381000" y="12700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F3864"/>
                </a:solidFill>
                <a:latin typeface="Segoe UI" panose="020B0502040204020203" pitchFamily="34" charset="0"/>
              </a:rPr>
              <a:t>01  What is IAF Viewer?</a:t>
            </a:r>
            <a:endParaRPr lang="en-IN" sz="13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31B19-89FE-D8D4-609D-5ADBB086319D}"/>
              </a:ext>
            </a:extLst>
          </p:cNvPr>
          <p:cNvSpPr txBox="1"/>
          <p:nvPr/>
        </p:nvSpPr>
        <p:spPr>
          <a:xfrm>
            <a:off x="381000" y="17526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02  Test Framework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C409B-1EB1-8993-B826-9A56B6A13E83}"/>
              </a:ext>
            </a:extLst>
          </p:cNvPr>
          <p:cNvSpPr txBox="1"/>
          <p:nvPr/>
        </p:nvSpPr>
        <p:spPr>
          <a:xfrm>
            <a:off x="381000" y="22352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03  Technology 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2386D2-3CB2-C7B4-C172-45D618315438}"/>
              </a:ext>
            </a:extLst>
          </p:cNvPr>
          <p:cNvSpPr txBox="1"/>
          <p:nvPr/>
        </p:nvSpPr>
        <p:spPr>
          <a:xfrm>
            <a:off x="381000" y="27178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04  Model Selection Module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E6E4E-6C49-A0CF-ECE1-43B38CD2E3A4}"/>
              </a:ext>
            </a:extLst>
          </p:cNvPr>
          <p:cNvSpPr txBox="1"/>
          <p:nvPr/>
        </p:nvSpPr>
        <p:spPr>
          <a:xfrm>
            <a:off x="381000" y="32004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05  Model Composer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CF5426-27A1-3A4B-5485-436EEC9A3194}"/>
              </a:ext>
            </a:extLst>
          </p:cNvPr>
          <p:cNvSpPr txBox="1"/>
          <p:nvPr/>
        </p:nvSpPr>
        <p:spPr>
          <a:xfrm>
            <a:off x="381000" y="36830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06  Viewer Toolbar Module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D4BD7C-101C-77B6-8D5A-4C9FC0D2F72D}"/>
              </a:ext>
            </a:extLst>
          </p:cNvPr>
          <p:cNvSpPr txBox="1"/>
          <p:nvPr/>
        </p:nvSpPr>
        <p:spPr>
          <a:xfrm>
            <a:off x="381000" y="41656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07  Annotations Module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059303-6DD4-025E-2E5D-91A7942D88C5}"/>
              </a:ext>
            </a:extLst>
          </p:cNvPr>
          <p:cNvSpPr txBox="1"/>
          <p:nvPr/>
        </p:nvSpPr>
        <p:spPr>
          <a:xfrm>
            <a:off x="381000" y="46482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08  Visual Regression Strategy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39712-9C93-7A28-14F2-4BA8447A105A}"/>
              </a:ext>
            </a:extLst>
          </p:cNvPr>
          <p:cNvSpPr txBox="1"/>
          <p:nvPr/>
        </p:nvSpPr>
        <p:spPr>
          <a:xfrm>
            <a:off x="381000" y="5130800"/>
            <a:ext cx="3429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09  Live Demo &amp; Summary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E7FA0A-0A9C-0AD5-87AA-4DCFC23C429F}"/>
              </a:ext>
            </a:extLst>
          </p:cNvPr>
          <p:cNvSpPr txBox="1"/>
          <p:nvPr/>
        </p:nvSpPr>
        <p:spPr>
          <a:xfrm>
            <a:off x="4445000" y="381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16305C"/>
                </a:solidFill>
                <a:latin typeface="Segoe UI" panose="020B0502040204020203" pitchFamily="34" charset="0"/>
              </a:rPr>
              <a:t>Demo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154E3F-2DFA-96F8-D0C0-5CDAF4AF566C}"/>
              </a:ext>
            </a:extLst>
          </p:cNvPr>
          <p:cNvSpPr/>
          <p:nvPr/>
        </p:nvSpPr>
        <p:spPr>
          <a:xfrm>
            <a:off x="4445000" y="990600"/>
            <a:ext cx="762000" cy="50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5AD976-1576-F657-0CFE-104822559066}"/>
              </a:ext>
            </a:extLst>
          </p:cNvPr>
          <p:cNvSpPr txBox="1"/>
          <p:nvPr/>
        </p:nvSpPr>
        <p:spPr>
          <a:xfrm>
            <a:off x="4445000" y="1270000"/>
            <a:ext cx="723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1F3864"/>
                </a:solidFill>
                <a:latin typeface="Segoe UI" panose="020B0502040204020203" pitchFamily="34" charset="0"/>
              </a:rPr>
              <a:t>The IAF Viewer automation suite validates the 3D/2D BIM model viewer built on the Invicara Platform. Using Playwright with Chromium, 54 end-to-end test cases cover every major user-facing feature — from model loading and layer control to annotation drawing and cutting planes — with pixel-level visual regression on every meaningful UI state.</a:t>
            </a:r>
            <a:endParaRPr lang="en-IN" sz="14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41174FF-89A2-EAB4-2AD9-810FC276FE8C}"/>
              </a:ext>
            </a:extLst>
          </p:cNvPr>
          <p:cNvSpPr/>
          <p:nvPr/>
        </p:nvSpPr>
        <p:spPr>
          <a:xfrm>
            <a:off x="4445000" y="3429000"/>
            <a:ext cx="1524000" cy="11430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0358B-CD53-5FE6-93D8-DBCA0565B3C2}"/>
              </a:ext>
            </a:extLst>
          </p:cNvPr>
          <p:cNvSpPr txBox="1"/>
          <p:nvPr/>
        </p:nvSpPr>
        <p:spPr>
          <a:xfrm>
            <a:off x="4572000" y="35560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6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A9DF6C-D847-5D15-97B3-56FCCB3DE9F2}"/>
              </a:ext>
            </a:extLst>
          </p:cNvPr>
          <p:cNvSpPr txBox="1"/>
          <p:nvPr/>
        </p:nvSpPr>
        <p:spPr>
          <a:xfrm>
            <a:off x="4508500" y="4089400"/>
            <a:ext cx="139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>
                <a:solidFill>
                  <a:srgbClr val="AED6F1"/>
                </a:solidFill>
                <a:latin typeface="Segoe UI" panose="020B0502040204020203" pitchFamily="34" charset="0"/>
              </a:rPr>
              <a:t>Spec Files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DDC33DD-72A3-8637-5E57-8A9B3836BCA7}"/>
              </a:ext>
            </a:extLst>
          </p:cNvPr>
          <p:cNvSpPr/>
          <p:nvPr/>
        </p:nvSpPr>
        <p:spPr>
          <a:xfrm>
            <a:off x="6197600" y="3429000"/>
            <a:ext cx="1524000" cy="11430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7CB3B3-12B2-B135-9E24-A85AAE25FC41}"/>
              </a:ext>
            </a:extLst>
          </p:cNvPr>
          <p:cNvSpPr txBox="1"/>
          <p:nvPr/>
        </p:nvSpPr>
        <p:spPr>
          <a:xfrm>
            <a:off x="6324600" y="35560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600" b="1">
                <a:solidFill>
                  <a:srgbClr val="FFFFFF"/>
                </a:solidFill>
                <a:latin typeface="Segoe UI" panose="020B0502040204020203" pitchFamily="34" charset="0"/>
              </a:rPr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22F409-767F-3F41-5BEA-476BFFB29E69}"/>
              </a:ext>
            </a:extLst>
          </p:cNvPr>
          <p:cNvSpPr txBox="1"/>
          <p:nvPr/>
        </p:nvSpPr>
        <p:spPr>
          <a:xfrm>
            <a:off x="6261100" y="4089400"/>
            <a:ext cx="139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>
                <a:solidFill>
                  <a:srgbClr val="AED6F1"/>
                </a:solidFill>
                <a:latin typeface="Segoe UI" panose="020B0502040204020203" pitchFamily="34" charset="0"/>
              </a:rPr>
              <a:t>Test Cases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C183D9-C821-E973-BB98-118F511104CC}"/>
              </a:ext>
            </a:extLst>
          </p:cNvPr>
          <p:cNvSpPr/>
          <p:nvPr/>
        </p:nvSpPr>
        <p:spPr>
          <a:xfrm>
            <a:off x="7950200" y="3429000"/>
            <a:ext cx="1524000" cy="11430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2B4B6C-A138-18F9-25DD-D8BD29541758}"/>
              </a:ext>
            </a:extLst>
          </p:cNvPr>
          <p:cNvSpPr txBox="1"/>
          <p:nvPr/>
        </p:nvSpPr>
        <p:spPr>
          <a:xfrm>
            <a:off x="8077200" y="35560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600" b="1">
                <a:solidFill>
                  <a:srgbClr val="FFFFFF"/>
                </a:solidFill>
                <a:latin typeface="Segoe UI" panose="020B0502040204020203" pitchFamily="34" charset="0"/>
              </a:rPr>
              <a:t>100+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60EEBF-A754-6435-8B9C-25B576EB57A4}"/>
              </a:ext>
            </a:extLst>
          </p:cNvPr>
          <p:cNvSpPr txBox="1"/>
          <p:nvPr/>
        </p:nvSpPr>
        <p:spPr>
          <a:xfrm>
            <a:off x="8013700" y="4089400"/>
            <a:ext cx="139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>
                <a:solidFill>
                  <a:srgbClr val="AED6F1"/>
                </a:solidFill>
                <a:latin typeface="Segoe UI" panose="020B0502040204020203" pitchFamily="34" charset="0"/>
              </a:rPr>
              <a:t>Screenshots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9565EE-B37B-14DE-D7D1-1EC5F84EDDC2}"/>
              </a:ext>
            </a:extLst>
          </p:cNvPr>
          <p:cNvSpPr/>
          <p:nvPr/>
        </p:nvSpPr>
        <p:spPr>
          <a:xfrm>
            <a:off x="9702800" y="3429000"/>
            <a:ext cx="1524000" cy="11430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07E995-5700-2DFB-26EA-0E1BB7C23D4F}"/>
              </a:ext>
            </a:extLst>
          </p:cNvPr>
          <p:cNvSpPr txBox="1"/>
          <p:nvPr/>
        </p:nvSpPr>
        <p:spPr>
          <a:xfrm>
            <a:off x="9829800" y="35560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6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5DDDE9-8E55-C9D0-05BE-E8F1DF7FACE2}"/>
              </a:ext>
            </a:extLst>
          </p:cNvPr>
          <p:cNvSpPr txBox="1"/>
          <p:nvPr/>
        </p:nvSpPr>
        <p:spPr>
          <a:xfrm>
            <a:off x="9766300" y="4089400"/>
            <a:ext cx="139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>
                <a:solidFill>
                  <a:srgbClr val="AED6F1"/>
                </a:solidFill>
                <a:latin typeface="Segoe UI" panose="020B0502040204020203" pitchFamily="34" charset="0"/>
              </a:rPr>
              <a:t>Environments</a:t>
            </a:r>
          </a:p>
        </p:txBody>
      </p:sp>
    </p:spTree>
    <p:extLst>
      <p:ext uri="{BB962C8B-B14F-4D97-AF65-F5344CB8AC3E}">
        <p14:creationId xmlns:p14="http://schemas.microsoft.com/office/powerpoint/2010/main" val="154206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2D0884-0660-AE3C-204E-62C07459E1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79F56-A03E-C8BA-04F5-60633D378DBE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74167-6B90-57F8-FF0D-64DD0DEAE2E7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0AADB-E765-CA1F-9CDC-81722CE0F6BA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What is IAF Viewer?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567E43-ACD6-2FF3-B2BF-37FDB1018037}"/>
              </a:ext>
            </a:extLst>
          </p:cNvPr>
          <p:cNvSpPr/>
          <p:nvPr/>
        </p:nvSpPr>
        <p:spPr>
          <a:xfrm>
            <a:off x="381000" y="1397000"/>
            <a:ext cx="2667000" cy="4826000"/>
          </a:xfrm>
          <a:prstGeom prst="round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EBCEFD-AC46-078B-F359-238E77EFE892}"/>
              </a:ext>
            </a:extLst>
          </p:cNvPr>
          <p:cNvSpPr/>
          <p:nvPr/>
        </p:nvSpPr>
        <p:spPr>
          <a:xfrm>
            <a:off x="381000" y="1397000"/>
            <a:ext cx="2667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C90118-C62D-AA93-B368-B11A9FC50D65}"/>
              </a:ext>
            </a:extLst>
          </p:cNvPr>
          <p:cNvSpPr/>
          <p:nvPr/>
        </p:nvSpPr>
        <p:spPr>
          <a:xfrm>
            <a:off x="1333500" y="1587500"/>
            <a:ext cx="762000" cy="5080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C08B6-E2C9-EA76-86FE-9EBAC1A4612B}"/>
              </a:ext>
            </a:extLst>
          </p:cNvPr>
          <p:cNvSpPr txBox="1"/>
          <p:nvPr/>
        </p:nvSpPr>
        <p:spPr>
          <a:xfrm>
            <a:off x="1333500" y="16256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3D/2D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43B68-9F3B-68D8-A400-15F7E0441596}"/>
              </a:ext>
            </a:extLst>
          </p:cNvPr>
          <p:cNvSpPr txBox="1"/>
          <p:nvPr/>
        </p:nvSpPr>
        <p:spPr>
          <a:xfrm>
            <a:off x="444500" y="22606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500" b="1">
                <a:solidFill>
                  <a:srgbClr val="16305C"/>
                </a:solidFill>
                <a:latin typeface="Segoe UI" panose="020B0502040204020203" pitchFamily="34" charset="0"/>
              </a:rPr>
              <a:t>Dual Viewer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3DAC5-EF16-3721-CB52-0698FE3E1081}"/>
              </a:ext>
            </a:extLst>
          </p:cNvPr>
          <p:cNvSpPr txBox="1"/>
          <p:nvPr/>
        </p:nvSpPr>
        <p:spPr>
          <a:xfrm>
            <a:off x="508000" y="27305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Simultaneous 3D model and 2D floor plan viewing with synchronized navigation and element highlighting.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F618F4-2285-5556-6099-41609CD2E89B}"/>
              </a:ext>
            </a:extLst>
          </p:cNvPr>
          <p:cNvSpPr/>
          <p:nvPr/>
        </p:nvSpPr>
        <p:spPr>
          <a:xfrm>
            <a:off x="3276600" y="1397000"/>
            <a:ext cx="2667000" cy="4826000"/>
          </a:xfrm>
          <a:prstGeom prst="round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FFF528-F56D-0210-8ED6-A937E50BCBCE}"/>
              </a:ext>
            </a:extLst>
          </p:cNvPr>
          <p:cNvSpPr/>
          <p:nvPr/>
        </p:nvSpPr>
        <p:spPr>
          <a:xfrm>
            <a:off x="3276600" y="1397000"/>
            <a:ext cx="2667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423EED-D250-AAC9-8C6D-FBF93A24446F}"/>
              </a:ext>
            </a:extLst>
          </p:cNvPr>
          <p:cNvSpPr/>
          <p:nvPr/>
        </p:nvSpPr>
        <p:spPr>
          <a:xfrm>
            <a:off x="4229100" y="1587500"/>
            <a:ext cx="762000" cy="5080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98DCEC-FBBA-9EE5-90BE-A5006A65F613}"/>
              </a:ext>
            </a:extLst>
          </p:cNvPr>
          <p:cNvSpPr txBox="1"/>
          <p:nvPr/>
        </p:nvSpPr>
        <p:spPr>
          <a:xfrm>
            <a:off x="4229100" y="16256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BIM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59FB55-6422-2703-E57B-5BB1CF26A3B2}"/>
              </a:ext>
            </a:extLst>
          </p:cNvPr>
          <p:cNvSpPr txBox="1"/>
          <p:nvPr/>
        </p:nvSpPr>
        <p:spPr>
          <a:xfrm>
            <a:off x="3340100" y="22606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500" b="1">
                <a:solidFill>
                  <a:srgbClr val="16305C"/>
                </a:solidFill>
                <a:latin typeface="Segoe UI" panose="020B0502040204020203" pitchFamily="34" charset="0"/>
              </a:rPr>
              <a:t>Federated Models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76D130-7659-D9E3-7B09-1E50EC152120}"/>
              </a:ext>
            </a:extLst>
          </p:cNvPr>
          <p:cNvSpPr txBox="1"/>
          <p:nvPr/>
        </p:nvSpPr>
        <p:spPr>
          <a:xfrm>
            <a:off x="3403600" y="27305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Loads and composes multiple BIM disciplines (Structural, Architectural, MEP) into a single unified view.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B8ADE95-3E8F-3CFD-DC12-6AB7855D7890}"/>
              </a:ext>
            </a:extLst>
          </p:cNvPr>
          <p:cNvSpPr/>
          <p:nvPr/>
        </p:nvSpPr>
        <p:spPr>
          <a:xfrm>
            <a:off x="6172200" y="1397000"/>
            <a:ext cx="2667000" cy="4826000"/>
          </a:xfrm>
          <a:prstGeom prst="round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AB9759-6AED-6089-EA3C-5C6E13797488}"/>
              </a:ext>
            </a:extLst>
          </p:cNvPr>
          <p:cNvSpPr/>
          <p:nvPr/>
        </p:nvSpPr>
        <p:spPr>
          <a:xfrm>
            <a:off x="6172200" y="1397000"/>
            <a:ext cx="2667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CEEB71-71F7-9839-D837-9E69A46CE154}"/>
              </a:ext>
            </a:extLst>
          </p:cNvPr>
          <p:cNvSpPr/>
          <p:nvPr/>
        </p:nvSpPr>
        <p:spPr>
          <a:xfrm>
            <a:off x="7124700" y="1587500"/>
            <a:ext cx="762000" cy="5080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CEED5D-7FBD-D818-0974-C318EE5D0A3C}"/>
              </a:ext>
            </a:extLst>
          </p:cNvPr>
          <p:cNvSpPr txBox="1"/>
          <p:nvPr/>
        </p:nvSpPr>
        <p:spPr>
          <a:xfrm>
            <a:off x="7124700" y="16256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UI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C7574-44F1-B081-2FB4-9AC1E0383A04}"/>
              </a:ext>
            </a:extLst>
          </p:cNvPr>
          <p:cNvSpPr txBox="1"/>
          <p:nvPr/>
        </p:nvSpPr>
        <p:spPr>
          <a:xfrm>
            <a:off x="6235700" y="22606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500" b="1">
                <a:solidFill>
                  <a:srgbClr val="16305C"/>
                </a:solidFill>
                <a:latin typeface="Segoe UI" panose="020B0502040204020203" pitchFamily="34" charset="0"/>
              </a:rPr>
              <a:t>Interactive Controls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CEAE74-8169-D1DD-2C9B-6414FA0296B5}"/>
              </a:ext>
            </a:extLst>
          </p:cNvPr>
          <p:cNvSpPr txBox="1"/>
          <p:nvPr/>
        </p:nvSpPr>
        <p:spPr>
          <a:xfrm>
            <a:off x="6299200" y="27305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Full toolbar with shading, cutting planes, projection modes, focus mode, and standard camera views.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75A558-2210-E22F-2FF3-0186572AC8CF}"/>
              </a:ext>
            </a:extLst>
          </p:cNvPr>
          <p:cNvSpPr/>
          <p:nvPr/>
        </p:nvSpPr>
        <p:spPr>
          <a:xfrm>
            <a:off x="9067800" y="1397000"/>
            <a:ext cx="2667000" cy="4826000"/>
          </a:xfrm>
          <a:prstGeom prst="round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1081F9-64B2-DC88-93AD-A1D63A971385}"/>
              </a:ext>
            </a:extLst>
          </p:cNvPr>
          <p:cNvSpPr/>
          <p:nvPr/>
        </p:nvSpPr>
        <p:spPr>
          <a:xfrm>
            <a:off x="9067800" y="1397000"/>
            <a:ext cx="2667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06F336E-4E6F-596E-EF87-C347B665C597}"/>
              </a:ext>
            </a:extLst>
          </p:cNvPr>
          <p:cNvSpPr/>
          <p:nvPr/>
        </p:nvSpPr>
        <p:spPr>
          <a:xfrm>
            <a:off x="10020300" y="1587500"/>
            <a:ext cx="762000" cy="5080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AEC9A5-A876-0F91-F8C7-17837BB28A69}"/>
              </a:ext>
            </a:extLst>
          </p:cNvPr>
          <p:cNvSpPr txBox="1"/>
          <p:nvPr/>
        </p:nvSpPr>
        <p:spPr>
          <a:xfrm>
            <a:off x="10020300" y="16256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Ann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E90BBA-0AAD-E32E-8134-85B0A3FC455A}"/>
              </a:ext>
            </a:extLst>
          </p:cNvPr>
          <p:cNvSpPr txBox="1"/>
          <p:nvPr/>
        </p:nvSpPr>
        <p:spPr>
          <a:xfrm>
            <a:off x="9131300" y="22606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500" b="1">
                <a:solidFill>
                  <a:srgbClr val="16305C"/>
                </a:solidFill>
                <a:latin typeface="Segoe UI" panose="020B0502040204020203" pitchFamily="34" charset="0"/>
              </a:rPr>
              <a:t>Annotations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5F10F7-EFC7-AFDC-CC78-E62B766E417B}"/>
              </a:ext>
            </a:extLst>
          </p:cNvPr>
          <p:cNvSpPr txBox="1"/>
          <p:nvPr/>
        </p:nvSpPr>
        <p:spPr>
          <a:xfrm>
            <a:off x="9194800" y="27305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Draw and export geometric annotations (lines, circles, polygons, text, freehand) directly on the 3D canvas.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73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35CB75-3EE2-97C0-3C5F-94FE4EA548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DAE23-8B59-FAA5-EBF3-1623C56390D2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184EB-9360-D43D-C24A-4FA5F6018713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D91E1-1B0F-944E-DDB6-4DF3AB2B516D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Technology Stack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0389C5-50A1-3CA0-B534-8EF5A18F4B92}"/>
              </a:ext>
            </a:extLst>
          </p:cNvPr>
          <p:cNvSpPr/>
          <p:nvPr/>
        </p:nvSpPr>
        <p:spPr>
          <a:xfrm>
            <a:off x="635000" y="1460500"/>
            <a:ext cx="10922000" cy="1168400"/>
          </a:xfrm>
          <a:prstGeom prst="roundRect">
            <a:avLst/>
          </a:prstGeom>
          <a:solidFill>
            <a:srgbClr val="F8F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A3FCC4-254D-46D6-71AA-119DDFF22074}"/>
              </a:ext>
            </a:extLst>
          </p:cNvPr>
          <p:cNvSpPr/>
          <p:nvPr/>
        </p:nvSpPr>
        <p:spPr>
          <a:xfrm>
            <a:off x="635000" y="1460500"/>
            <a:ext cx="76200" cy="11684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7AAA97-F02F-07CA-E403-AC38BDC436DD}"/>
              </a:ext>
            </a:extLst>
          </p:cNvPr>
          <p:cNvSpPr txBox="1"/>
          <p:nvPr/>
        </p:nvSpPr>
        <p:spPr>
          <a:xfrm>
            <a:off x="952500" y="15875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2E75B6"/>
                </a:solidFill>
                <a:latin typeface="Segoe UI" panose="020B0502040204020203" pitchFamily="34" charset="0"/>
              </a:rPr>
              <a:t>Playwright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F203A3-4E85-634B-E3F9-619928486BAD}"/>
              </a:ext>
            </a:extLst>
          </p:cNvPr>
          <p:cNvSpPr txBox="1"/>
          <p:nvPr/>
        </p:nvSpPr>
        <p:spPr>
          <a:xfrm>
            <a:off x="952500" y="20193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i="1">
                <a:solidFill>
                  <a:srgbClr val="808080"/>
                </a:solidFill>
                <a:latin typeface="Segoe UI" panose="020B0502040204020203" pitchFamily="34" charset="0"/>
              </a:rPr>
              <a:t>v1.x  |  Node.js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68149-5DA0-25DB-87E4-EDBFF666DAA2}"/>
              </a:ext>
            </a:extLst>
          </p:cNvPr>
          <p:cNvSpPr txBox="1"/>
          <p:nvPr/>
        </p:nvSpPr>
        <p:spPr>
          <a:xfrm>
            <a:off x="3429000" y="16510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F3864"/>
                </a:solidFill>
                <a:latin typeface="Segoe UI" panose="020B0502040204020203" pitchFamily="34" charset="0"/>
              </a:rPr>
              <a:t>Cross-browser E2E testing. Chromium engine. Reliable auto-waiting, screenshot APIs, CDP session access.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7298D7-5D64-A8B2-7334-50BE69F33C36}"/>
              </a:ext>
            </a:extLst>
          </p:cNvPr>
          <p:cNvSpPr/>
          <p:nvPr/>
        </p:nvSpPr>
        <p:spPr>
          <a:xfrm>
            <a:off x="635000" y="2781300"/>
            <a:ext cx="10922000" cy="1168400"/>
          </a:xfrm>
          <a:prstGeom prst="roundRect">
            <a:avLst/>
          </a:prstGeom>
          <a:solidFill>
            <a:srgbClr val="F8F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8EC8E-884F-9BE0-E765-424E4AD597FE}"/>
              </a:ext>
            </a:extLst>
          </p:cNvPr>
          <p:cNvSpPr/>
          <p:nvPr/>
        </p:nvSpPr>
        <p:spPr>
          <a:xfrm>
            <a:off x="635000" y="2781300"/>
            <a:ext cx="76200" cy="11684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A52A6A-F8A6-2B3B-ED7A-5931D244D3CE}"/>
              </a:ext>
            </a:extLst>
          </p:cNvPr>
          <p:cNvSpPr txBox="1"/>
          <p:nvPr/>
        </p:nvSpPr>
        <p:spPr>
          <a:xfrm>
            <a:off x="952500" y="29083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ED7D31"/>
                </a:solidFill>
                <a:latin typeface="Segoe UI" panose="020B0502040204020203" pitchFamily="34" charset="0"/>
              </a:rPr>
              <a:t>ES Modules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7AF6F-839D-19A1-6A80-F90A6E8206E2}"/>
              </a:ext>
            </a:extLst>
          </p:cNvPr>
          <p:cNvSpPr txBox="1"/>
          <p:nvPr/>
        </p:nvSpPr>
        <p:spPr>
          <a:xfrm>
            <a:off x="952500" y="33401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i="1">
                <a:solidFill>
                  <a:srgbClr val="808080"/>
                </a:solidFill>
                <a:latin typeface="Segoe UI" panose="020B0502040204020203" pitchFamily="34" charset="0"/>
              </a:rPr>
              <a:t>import / export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8D3D2E-87D4-381B-A52D-250BBE83EB54}"/>
              </a:ext>
            </a:extLst>
          </p:cNvPr>
          <p:cNvSpPr txBox="1"/>
          <p:nvPr/>
        </p:nvSpPr>
        <p:spPr>
          <a:xfrm>
            <a:off x="3429000" y="29718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F3864"/>
                </a:solidFill>
                <a:latin typeface="Segoe UI" panose="020B0502040204020203" pitchFamily="34" charset="0"/>
              </a:rPr>
              <a:t>Pure ESM codebase (type:module). Named exports, no CommonJS. Clean tree-shaking friendly imports.</a:t>
            </a:r>
            <a:endParaRPr lang="en-IN" sz="13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EF76C2-9F56-58EC-AAE6-3353D97FEA61}"/>
              </a:ext>
            </a:extLst>
          </p:cNvPr>
          <p:cNvSpPr/>
          <p:nvPr/>
        </p:nvSpPr>
        <p:spPr>
          <a:xfrm>
            <a:off x="635000" y="4102100"/>
            <a:ext cx="10922000" cy="1168400"/>
          </a:xfrm>
          <a:prstGeom prst="roundRect">
            <a:avLst/>
          </a:prstGeom>
          <a:solidFill>
            <a:srgbClr val="F8F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ACB940-49AE-8A9A-477D-E1561B61FB4A}"/>
              </a:ext>
            </a:extLst>
          </p:cNvPr>
          <p:cNvSpPr/>
          <p:nvPr/>
        </p:nvSpPr>
        <p:spPr>
          <a:xfrm>
            <a:off x="635000" y="4102100"/>
            <a:ext cx="76200" cy="1168400"/>
          </a:xfrm>
          <a:prstGeom prst="rect">
            <a:avLst/>
          </a:prstGeom>
          <a:solidFill>
            <a:srgbClr val="0065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ED425C-37DB-0673-EAA4-E213BDDF940D}"/>
              </a:ext>
            </a:extLst>
          </p:cNvPr>
          <p:cNvSpPr txBox="1"/>
          <p:nvPr/>
        </p:nvSpPr>
        <p:spPr>
          <a:xfrm>
            <a:off x="952500" y="42291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0065A4"/>
                </a:solidFill>
                <a:latin typeface="Segoe UI" panose="020B0502040204020203" pitchFamily="34" charset="0"/>
              </a:rPr>
              <a:t>Xray + Jira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00306-49F5-09C9-52C3-1FBC70AD0240}"/>
              </a:ext>
            </a:extLst>
          </p:cNvPr>
          <p:cNvSpPr txBox="1"/>
          <p:nvPr/>
        </p:nvSpPr>
        <p:spPr>
          <a:xfrm>
            <a:off x="952500" y="46609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i="1">
                <a:solidFill>
                  <a:srgbClr val="808080"/>
                </a:solidFill>
                <a:latin typeface="Segoe UI" panose="020B0502040204020203" pitchFamily="34" charset="0"/>
              </a:rPr>
              <a:t>Test Management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EA51E0-F144-F6D9-8A7C-573C2481DD09}"/>
              </a:ext>
            </a:extLst>
          </p:cNvPr>
          <p:cNvSpPr txBox="1"/>
          <p:nvPr/>
        </p:nvSpPr>
        <p:spPr>
          <a:xfrm>
            <a:off x="3429000" y="42926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F3864"/>
                </a:solidFill>
                <a:latin typeface="Segoe UI" panose="020B0502040204020203" pitchFamily="34" charset="0"/>
              </a:rPr>
              <a:t>Each spec maps to Xray test IDs. Results auto-import into Jira for traceability across releases.</a:t>
            </a:r>
            <a:endParaRPr lang="en-IN" sz="13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D44DC7-5747-2F76-ED06-D498926EA667}"/>
              </a:ext>
            </a:extLst>
          </p:cNvPr>
          <p:cNvSpPr/>
          <p:nvPr/>
        </p:nvSpPr>
        <p:spPr>
          <a:xfrm>
            <a:off x="635000" y="5422900"/>
            <a:ext cx="10922000" cy="1168400"/>
          </a:xfrm>
          <a:prstGeom prst="roundRect">
            <a:avLst/>
          </a:prstGeom>
          <a:solidFill>
            <a:srgbClr val="F8FA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4F8BB0-08CD-7673-62EF-F9A2F3177DA2}"/>
              </a:ext>
            </a:extLst>
          </p:cNvPr>
          <p:cNvSpPr/>
          <p:nvPr/>
        </p:nvSpPr>
        <p:spPr>
          <a:xfrm>
            <a:off x="635000" y="5422900"/>
            <a:ext cx="76200" cy="11684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504DE3-7134-EF3D-CFC2-DC2FA41E258D}"/>
              </a:ext>
            </a:extLst>
          </p:cNvPr>
          <p:cNvSpPr txBox="1"/>
          <p:nvPr/>
        </p:nvSpPr>
        <p:spPr>
          <a:xfrm>
            <a:off x="952500" y="55499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7030A0"/>
                </a:solidFill>
                <a:latin typeface="Segoe UI" panose="020B0502040204020203" pitchFamily="34" charset="0"/>
              </a:rPr>
              <a:t>Visual Regression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42D1E-509A-B8DB-859A-8D7F55BD1966}"/>
              </a:ext>
            </a:extLst>
          </p:cNvPr>
          <p:cNvSpPr txBox="1"/>
          <p:nvPr/>
        </p:nvSpPr>
        <p:spPr>
          <a:xfrm>
            <a:off x="952500" y="59817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i="1">
                <a:solidFill>
                  <a:srgbClr val="808080"/>
                </a:solidFill>
                <a:latin typeface="Segoe UI" panose="020B0502040204020203" pitchFamily="34" charset="0"/>
              </a:rPr>
              <a:t>toHaveScreenshot()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0F6AD8-7D1D-4D87-A41E-0C3F7F655EE2}"/>
              </a:ext>
            </a:extLst>
          </p:cNvPr>
          <p:cNvSpPr txBox="1"/>
          <p:nvPr/>
        </p:nvSpPr>
        <p:spPr>
          <a:xfrm>
            <a:off x="3429000" y="56134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F3864"/>
                </a:solidFill>
                <a:latin typeface="Segoe UI" panose="020B0502040204020203" pitchFamily="34" charset="0"/>
              </a:rPr>
              <a:t>Pixel-level screenshot comparison with configurable maxDiffPixelRatio (0.02–0.03) per test.</a:t>
            </a:r>
            <a:endParaRPr lang="en-IN" sz="13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57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0A771D-FAB7-C57D-5CF7-A09CD001FA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056AE-79FC-1735-B906-3572F03BEA6D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4FFEAF-CDD1-CD56-6053-B3D3C62A6C24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91EC5-A17C-2502-DD5E-5AA082FBEC17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Framework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D659DB-7071-DE02-007A-ACD339BCE596}"/>
              </a:ext>
            </a:extLst>
          </p:cNvPr>
          <p:cNvSpPr/>
          <p:nvPr/>
        </p:nvSpPr>
        <p:spPr>
          <a:xfrm>
            <a:off x="381000" y="1397000"/>
            <a:ext cx="5080000" cy="5080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55B5E-4435-9CFD-5450-3ADE8A5B9E02}"/>
              </a:ext>
            </a:extLst>
          </p:cNvPr>
          <p:cNvSpPr txBox="1"/>
          <p:nvPr/>
        </p:nvSpPr>
        <p:spPr>
          <a:xfrm>
            <a:off x="508000" y="149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100" b="1">
                <a:solidFill>
                  <a:srgbClr val="FFD700"/>
                </a:solidFill>
                <a:latin typeface="Segoe UI" panose="020B0502040204020203" pitchFamily="34" charset="0"/>
              </a:rPr>
              <a:t>tests/iaf-viewer/tests/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38615-2D16-D495-F165-6478B3CC7AA7}"/>
              </a:ext>
            </a:extLst>
          </p:cNvPr>
          <p:cNvSpPr txBox="1"/>
          <p:nvPr/>
        </p:nvSpPr>
        <p:spPr>
          <a:xfrm>
            <a:off x="508000" y="18796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569CD6"/>
                </a:solidFill>
                <a:latin typeface="Segoe UI" panose="020B0502040204020203" pitchFamily="34" charset="0"/>
              </a:rPr>
              <a:t>  specs/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BA8C6F-02D4-3DF8-2DD8-48C1F7194FBC}"/>
              </a:ext>
            </a:extLst>
          </p:cNvPr>
          <p:cNvSpPr txBox="1"/>
          <p:nvPr/>
        </p:nvSpPr>
        <p:spPr>
          <a:xfrm>
            <a:off x="508000" y="2095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annotations.spec.js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306A6-E35C-E478-7890-75A64D0B87AA}"/>
              </a:ext>
            </a:extLst>
          </p:cNvPr>
          <p:cNvSpPr txBox="1"/>
          <p:nvPr/>
        </p:nvSpPr>
        <p:spPr>
          <a:xfrm>
            <a:off x="508000" y="23114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modelComposer.spec.js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A90D16-57CA-A07F-5FC5-89CBD0C44B72}"/>
              </a:ext>
            </a:extLst>
          </p:cNvPr>
          <p:cNvSpPr txBox="1"/>
          <p:nvPr/>
        </p:nvSpPr>
        <p:spPr>
          <a:xfrm>
            <a:off x="508000" y="25273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modelSelection.spec.js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83F02C-2593-6E1D-1F5A-8FA13F04A2D9}"/>
              </a:ext>
            </a:extLst>
          </p:cNvPr>
          <p:cNvSpPr txBox="1"/>
          <p:nvPr/>
        </p:nvSpPr>
        <p:spPr>
          <a:xfrm>
            <a:off x="508000" y="27432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viewerToolbar.spec.js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48046-5C1A-5F5E-52AC-DBEA269C5B01}"/>
              </a:ext>
            </a:extLst>
          </p:cNvPr>
          <p:cNvSpPr txBox="1"/>
          <p:nvPr/>
        </p:nvSpPr>
        <p:spPr>
          <a:xfrm>
            <a:off x="508000" y="29591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9CDCFE"/>
                </a:solidFill>
                <a:latin typeface="Segoe UI" panose="020B0502040204020203" pitchFamily="34" charset="0"/>
              </a:rPr>
              <a:t>    baseTest.js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C8900D-5317-F7DC-67BB-6B71C56A357D}"/>
              </a:ext>
            </a:extLst>
          </p:cNvPr>
          <p:cNvSpPr txBox="1"/>
          <p:nvPr/>
        </p:nvSpPr>
        <p:spPr>
          <a:xfrm>
            <a:off x="508000" y="31750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569CD6"/>
                </a:solidFill>
                <a:latin typeface="Segoe UI" panose="020B0502040204020203" pitchFamily="34" charset="0"/>
              </a:rPr>
              <a:t>  helpers/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2FCA46-8209-5040-C19D-37F2FB3E7D82}"/>
              </a:ext>
            </a:extLst>
          </p:cNvPr>
          <p:cNvSpPr txBox="1"/>
          <p:nvPr/>
        </p:nvSpPr>
        <p:spPr>
          <a:xfrm>
            <a:off x="508000" y="33909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appHelpers.js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191DF9-21DF-8BCE-EFFE-7A6A2D363F17}"/>
              </a:ext>
            </a:extLst>
          </p:cNvPr>
          <p:cNvSpPr txBox="1"/>
          <p:nvPr/>
        </p:nvSpPr>
        <p:spPr>
          <a:xfrm>
            <a:off x="508000" y="36068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locators.js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CE4550-8FED-6780-C31F-1B5F9434C0C6}"/>
              </a:ext>
            </a:extLst>
          </p:cNvPr>
          <p:cNvSpPr txBox="1"/>
          <p:nvPr/>
        </p:nvSpPr>
        <p:spPr>
          <a:xfrm>
            <a:off x="508000" y="38227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modelComposerHelpers.js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005B6B-B883-ED60-4BA7-0CDC43FA7ED7}"/>
              </a:ext>
            </a:extLst>
          </p:cNvPr>
          <p:cNvSpPr txBox="1"/>
          <p:nvPr/>
        </p:nvSpPr>
        <p:spPr>
          <a:xfrm>
            <a:off x="508000" y="40386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annotationHelpers.js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1C96DE-2181-AF59-F9E6-BBBB6D6B1540}"/>
              </a:ext>
            </a:extLst>
          </p:cNvPr>
          <p:cNvSpPr txBox="1"/>
          <p:nvPr/>
        </p:nvSpPr>
        <p:spPr>
          <a:xfrm>
            <a:off x="508000" y="4254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viewerHelpers.js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3AD2A0-4FE4-508E-F55D-A1AE76A36DBA}"/>
              </a:ext>
            </a:extLst>
          </p:cNvPr>
          <p:cNvSpPr txBox="1"/>
          <p:nvPr/>
        </p:nvSpPr>
        <p:spPr>
          <a:xfrm>
            <a:off x="508000" y="44704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569CD6"/>
                </a:solidFill>
                <a:latin typeface="Segoe UI" panose="020B0502040204020203" pitchFamily="34" charset="0"/>
              </a:rPr>
              <a:t>  data/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2A8387-07B3-1287-1597-BEB563D56524}"/>
              </a:ext>
            </a:extLst>
          </p:cNvPr>
          <p:cNvSpPr txBox="1"/>
          <p:nvPr/>
        </p:nvSpPr>
        <p:spPr>
          <a:xfrm>
            <a:off x="508000" y="46863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DCDCAA"/>
                </a:solidFill>
                <a:latin typeface="Segoe UI" panose="020B0502040204020203" pitchFamily="34" charset="0"/>
              </a:rPr>
              <a:t>    isolationElements.js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FD2D74-B176-4C12-95C7-EAEDFF7CC26E}"/>
              </a:ext>
            </a:extLst>
          </p:cNvPr>
          <p:cNvSpPr txBox="1"/>
          <p:nvPr/>
        </p:nvSpPr>
        <p:spPr>
          <a:xfrm>
            <a:off x="508000" y="49022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CE9178"/>
                </a:solidFill>
                <a:latin typeface="Segoe UI" panose="020B0502040204020203" pitchFamily="34" charset="0"/>
              </a:rPr>
              <a:t>  config.js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3F1B57-E3DD-DED5-2498-CF6B59C866FE}"/>
              </a:ext>
            </a:extLst>
          </p:cNvPr>
          <p:cNvSpPr txBox="1"/>
          <p:nvPr/>
        </p:nvSpPr>
        <p:spPr>
          <a:xfrm>
            <a:off x="5842000" y="1397000"/>
            <a:ext cx="584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 b="1">
                <a:solidFill>
                  <a:srgbClr val="16305C"/>
                </a:solidFill>
                <a:latin typeface="Segoe UI" panose="020B0502040204020203" pitchFamily="34" charset="0"/>
              </a:rPr>
              <a:t>Design Principles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865AEA-9799-5CAC-15F1-D89232702584}"/>
              </a:ext>
            </a:extLst>
          </p:cNvPr>
          <p:cNvSpPr/>
          <p:nvPr/>
        </p:nvSpPr>
        <p:spPr>
          <a:xfrm>
            <a:off x="5842000" y="1828800"/>
            <a:ext cx="1016000" cy="50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9BA8E2F-7961-CCA0-F319-EB7C0432FA15}"/>
              </a:ext>
            </a:extLst>
          </p:cNvPr>
          <p:cNvSpPr/>
          <p:nvPr/>
        </p:nvSpPr>
        <p:spPr>
          <a:xfrm>
            <a:off x="5867400" y="2108200"/>
            <a:ext cx="101600" cy="1016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123ACB-6818-B95F-5F1C-51DF5999A7B9}"/>
              </a:ext>
            </a:extLst>
          </p:cNvPr>
          <p:cNvSpPr txBox="1"/>
          <p:nvPr/>
        </p:nvSpPr>
        <p:spPr>
          <a:xfrm>
            <a:off x="6070600" y="2032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Self-Contained Tests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163CC7-78A9-4FB6-3A54-DAD4A4FF5F72}"/>
              </a:ext>
            </a:extLst>
          </p:cNvPr>
          <p:cNvSpPr txBox="1"/>
          <p:nvPr/>
        </p:nvSpPr>
        <p:spPr>
          <a:xfrm>
            <a:off x="6070600" y="2260600"/>
            <a:ext cx="558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No beforeEach/afterEach. Every test sets up and tears down its own state independently.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8C5713-21E0-017E-E1FF-1968C25E245E}"/>
              </a:ext>
            </a:extLst>
          </p:cNvPr>
          <p:cNvSpPr/>
          <p:nvPr/>
        </p:nvSpPr>
        <p:spPr>
          <a:xfrm>
            <a:off x="5867400" y="2870200"/>
            <a:ext cx="101600" cy="1016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A8AD75-9C2A-8709-BD78-269961CA5B09}"/>
              </a:ext>
            </a:extLst>
          </p:cNvPr>
          <p:cNvSpPr txBox="1"/>
          <p:nvPr/>
        </p:nvSpPr>
        <p:spPr>
          <a:xfrm>
            <a:off x="6070600" y="2794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Centralised Locators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F303A0-B98D-7A12-28BB-6DE597148EA8}"/>
              </a:ext>
            </a:extLst>
          </p:cNvPr>
          <p:cNvSpPr txBox="1"/>
          <p:nvPr/>
        </p:nvSpPr>
        <p:spPr>
          <a:xfrm>
            <a:off x="6070600" y="3022600"/>
            <a:ext cx="558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All CSS/XPath selectors live in locators.js only. Zero inline selectors in specs.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B66A74C-5E1A-D0A1-C4D0-5019B174827B}"/>
              </a:ext>
            </a:extLst>
          </p:cNvPr>
          <p:cNvSpPr/>
          <p:nvPr/>
        </p:nvSpPr>
        <p:spPr>
          <a:xfrm>
            <a:off x="5867400" y="3632200"/>
            <a:ext cx="101600" cy="1016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FCE434-AFD3-F82A-ED20-EC637B9BC653}"/>
              </a:ext>
            </a:extLst>
          </p:cNvPr>
          <p:cNvSpPr txBox="1"/>
          <p:nvPr/>
        </p:nvSpPr>
        <p:spPr>
          <a:xfrm>
            <a:off x="6070600" y="3556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Config-Driven Timeouts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63A2E7-980B-DE2B-C7AE-28C9E3B2AC71}"/>
              </a:ext>
            </a:extLst>
          </p:cNvPr>
          <p:cNvSpPr txBox="1"/>
          <p:nvPr/>
        </p:nvSpPr>
        <p:spPr>
          <a:xfrm>
            <a:off x="6070600" y="3784600"/>
            <a:ext cx="558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short=15s, medium=60s, long=20min. Never magic numbers in spec files.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D725CE6-5057-D6DE-24AC-8207A831A6C5}"/>
              </a:ext>
            </a:extLst>
          </p:cNvPr>
          <p:cNvSpPr/>
          <p:nvPr/>
        </p:nvSpPr>
        <p:spPr>
          <a:xfrm>
            <a:off x="5867400" y="4394200"/>
            <a:ext cx="101600" cy="1016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340DE5-BE79-7744-DC36-1F9AA2CD8FD7}"/>
              </a:ext>
            </a:extLst>
          </p:cNvPr>
          <p:cNvSpPr txBox="1"/>
          <p:nvPr/>
        </p:nvSpPr>
        <p:spPr>
          <a:xfrm>
            <a:off x="6070600" y="4318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Canvas-Safe Interaction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E262CA-E679-B30E-41A2-3E71A19C9DD3}"/>
              </a:ext>
            </a:extLst>
          </p:cNvPr>
          <p:cNvSpPr txBox="1"/>
          <p:nvPr/>
        </p:nvSpPr>
        <p:spPr>
          <a:xfrm>
            <a:off x="6070600" y="4546600"/>
            <a:ext cx="558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All 3D canvas clicks use boundingBox() + proportional offsets for resolution independence.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938494A-36AE-9B57-2DB3-ABCFF101CBC1}"/>
              </a:ext>
            </a:extLst>
          </p:cNvPr>
          <p:cNvSpPr/>
          <p:nvPr/>
        </p:nvSpPr>
        <p:spPr>
          <a:xfrm>
            <a:off x="5867400" y="5156200"/>
            <a:ext cx="101600" cy="1016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DD3D5A-87E2-0E2F-ED18-4C92249B06C4}"/>
              </a:ext>
            </a:extLst>
          </p:cNvPr>
          <p:cNvSpPr txBox="1"/>
          <p:nvPr/>
        </p:nvSpPr>
        <p:spPr>
          <a:xfrm>
            <a:off x="6070600" y="5080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window.viewer Assertions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252B6D-0560-21C8-2B59-8186299C194C}"/>
              </a:ext>
            </a:extLst>
          </p:cNvPr>
          <p:cNvSpPr txBox="1"/>
          <p:nvPr/>
        </p:nvSpPr>
        <p:spPr>
          <a:xfrm>
            <a:off x="6070600" y="5308600"/>
            <a:ext cx="558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State verified via JS evaluate with null-guard. Screenshot + state checked together.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55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6F82A2-65F8-AB9D-A1EC-3584A62041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266A1-91DC-7114-0355-C48964C68B1D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F419CB-C53A-A124-4A79-522F61535BBC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1C3B1-4680-4E43-3AEA-F97558094244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Module 1  |  Model Selection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27BEC4-B1B9-484D-41CF-C58E6D327CC5}"/>
              </a:ext>
            </a:extLst>
          </p:cNvPr>
          <p:cNvSpPr/>
          <p:nvPr/>
        </p:nvSpPr>
        <p:spPr>
          <a:xfrm>
            <a:off x="10287000" y="254000"/>
            <a:ext cx="1524000" cy="5588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92EC3-1EE0-B3A3-1468-16433BAC01F9}"/>
              </a:ext>
            </a:extLst>
          </p:cNvPr>
          <p:cNvSpPr txBox="1"/>
          <p:nvPr/>
        </p:nvSpPr>
        <p:spPr>
          <a:xfrm>
            <a:off x="10287000" y="355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3 Tests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96412D-8082-BCA6-0D8B-96478F561B68}"/>
              </a:ext>
            </a:extLst>
          </p:cNvPr>
          <p:cNvSpPr/>
          <p:nvPr/>
        </p:nvSpPr>
        <p:spPr>
          <a:xfrm>
            <a:off x="381000" y="1333500"/>
            <a:ext cx="11430000" cy="76200"/>
          </a:xfrm>
          <a:prstGeom prst="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B693B-F181-C00D-4598-0D6B41823BE9}"/>
              </a:ext>
            </a:extLst>
          </p:cNvPr>
          <p:cNvSpPr txBox="1"/>
          <p:nvPr/>
        </p:nvSpPr>
        <p:spPr>
          <a:xfrm>
            <a:off x="508000" y="1435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16305C"/>
                </a:solidFill>
                <a:latin typeface="Segoe UI" panose="020B0502040204020203" pitchFamily="34" charset="0"/>
              </a:rPr>
              <a:t>Model Selection – Direct Viewer Click</a:t>
            </a:r>
            <a:endParaRPr lang="en-IN" sz="1400" b="1">
              <a:solidFill>
                <a:srgbClr val="16305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600B69-997A-9745-01DB-64C2E26FAA2A}"/>
              </a:ext>
            </a:extLst>
          </p:cNvPr>
          <p:cNvSpPr/>
          <p:nvPr/>
        </p:nvSpPr>
        <p:spPr>
          <a:xfrm>
            <a:off x="9525000" y="1409700"/>
            <a:ext cx="2032000" cy="2794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AFEF2-5ADD-48B5-1114-791FA4203BAD}"/>
              </a:ext>
            </a:extLst>
          </p:cNvPr>
          <p:cNvSpPr txBox="1"/>
          <p:nvPr/>
        </p:nvSpPr>
        <p:spPr>
          <a:xfrm>
            <a:off x="9525000" y="14351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900">
                <a:solidFill>
                  <a:srgbClr val="2E75B6"/>
                </a:solidFill>
                <a:latin typeface="Segoe UI" panose="020B0502040204020203" pitchFamily="34" charset="0"/>
              </a:rPr>
              <a:t>canvas click · state assert · screenshot</a:t>
            </a:r>
            <a:endParaRPr lang="en-IN" sz="900">
              <a:solidFill>
                <a:srgbClr val="2E75B6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939C71-F53B-6446-2A9E-8A4BA1A491B8}"/>
              </a:ext>
            </a:extLst>
          </p:cNvPr>
          <p:cNvSpPr txBox="1"/>
          <p:nvPr/>
        </p:nvSpPr>
        <p:spPr>
          <a:xfrm>
            <a:off x="635000" y="17399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100">
                <a:solidFill>
                  <a:srgbClr val="1F3864"/>
                </a:solidFill>
                <a:latin typeface="Segoe UI" panose="020B0502040204020203" pitchFamily="34" charset="0"/>
              </a:rPr>
              <a:t>• Login + load project via Navigator view
• Wait for 3D canvas &amp; spinner hidden
• Click canvas at proportional coords → element highlights
• Assert window.viewer.props.selection array equals expected IDs
• Click empty area → deselect, assert selection = []
• Screenshot comparison before &amp; after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44CC62-A6C8-C6A5-684F-DF2A6D8B8B67}"/>
              </a:ext>
            </a:extLst>
          </p:cNvPr>
          <p:cNvSpPr/>
          <p:nvPr/>
        </p:nvSpPr>
        <p:spPr>
          <a:xfrm>
            <a:off x="381000" y="3111500"/>
            <a:ext cx="11430000" cy="76200"/>
          </a:xfrm>
          <a:prstGeom prst="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FB2E2-E4D0-BF59-5592-A360FA19582C}"/>
              </a:ext>
            </a:extLst>
          </p:cNvPr>
          <p:cNvSpPr txBox="1"/>
          <p:nvPr/>
        </p:nvSpPr>
        <p:spPr>
          <a:xfrm>
            <a:off x="508000" y="3213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400" b="1">
                <a:solidFill>
                  <a:srgbClr val="16305C"/>
                </a:solidFill>
                <a:latin typeface="Segoe UI" panose="020B0502040204020203" pitchFamily="34" charset="0"/>
              </a:rPr>
              <a:t>Model Isolation – Search &amp; Select (Glass Mode)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C53EA0-0053-E75F-043D-3299329E68A3}"/>
              </a:ext>
            </a:extLst>
          </p:cNvPr>
          <p:cNvSpPr/>
          <p:nvPr/>
        </p:nvSpPr>
        <p:spPr>
          <a:xfrm>
            <a:off x="9525000" y="3187700"/>
            <a:ext cx="2032000" cy="2794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59DC69-CB79-C93E-E79A-A1BBE6B9BD27}"/>
              </a:ext>
            </a:extLst>
          </p:cNvPr>
          <p:cNvSpPr txBox="1"/>
          <p:nvPr/>
        </p:nvSpPr>
        <p:spPr>
          <a:xfrm>
            <a:off x="9525000" y="32131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900">
                <a:solidFill>
                  <a:srgbClr val="2E75B6"/>
                </a:solidFill>
                <a:latin typeface="Segoe UI" panose="020B0502040204020203" pitchFamily="34" charset="0"/>
              </a:rPr>
              <a:t>search · multi-select · glass mode · visual</a:t>
            </a:r>
            <a:endParaRPr lang="en-IN" sz="900">
              <a:solidFill>
                <a:srgbClr val="2E75B6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0C5FE1-06DA-AEA5-EBB3-B4AFEF5183B0}"/>
              </a:ext>
            </a:extLst>
          </p:cNvPr>
          <p:cNvSpPr txBox="1"/>
          <p:nvPr/>
        </p:nvSpPr>
        <p:spPr>
          <a:xfrm>
            <a:off x="635000" y="35179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100">
                <a:solidFill>
                  <a:srgbClr val="1F3864"/>
                </a:solidFill>
                <a:latin typeface="Segoe UI" panose="020B0502040204020203" pitchFamily="34" charset="0"/>
              </a:rPr>
              <a:t>• Open Search drawer → filter ElementCategory=Ceiling, ElementType=Suspended Ceiling
• Click Fetch → open Entity Name list panel
• Select-all checkbox → verify all rows checked
• Collapse panels → assert window.viewer selection array
• verifyViewerScreenshot(isolatedElements_glass)
• Deselect all + clear filters → assert selection=[], screenshot shaded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EBFA03-EC6A-FD4F-7593-2003CC727C52}"/>
              </a:ext>
            </a:extLst>
          </p:cNvPr>
          <p:cNvSpPr/>
          <p:nvPr/>
        </p:nvSpPr>
        <p:spPr>
          <a:xfrm>
            <a:off x="381000" y="4889500"/>
            <a:ext cx="11430000" cy="76200"/>
          </a:xfrm>
          <a:prstGeom prst="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8FB510-A37D-7DAC-65DF-E1C5DC8496F7}"/>
              </a:ext>
            </a:extLst>
          </p:cNvPr>
          <p:cNvSpPr txBox="1"/>
          <p:nvPr/>
        </p:nvSpPr>
        <p:spPr>
          <a:xfrm>
            <a:off x="508000" y="4991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400" b="1">
                <a:solidFill>
                  <a:srgbClr val="16305C"/>
                </a:solidFill>
                <a:latin typeface="Segoe UI" panose="020B0502040204020203" pitchFamily="34" charset="0"/>
              </a:rPr>
              <a:t>Model Isolation – BookMark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CCD48F-DF9D-E22B-F37A-802C2856AC82}"/>
              </a:ext>
            </a:extLst>
          </p:cNvPr>
          <p:cNvSpPr/>
          <p:nvPr/>
        </p:nvSpPr>
        <p:spPr>
          <a:xfrm>
            <a:off x="9525000" y="4965700"/>
            <a:ext cx="2032000" cy="2794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189B62-3CF7-0A3E-AF46-0882E6952838}"/>
              </a:ext>
            </a:extLst>
          </p:cNvPr>
          <p:cNvSpPr txBox="1"/>
          <p:nvPr/>
        </p:nvSpPr>
        <p:spPr>
          <a:xfrm>
            <a:off x="9525000" y="49911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900">
                <a:solidFill>
                  <a:srgbClr val="2E75B6"/>
                </a:solidFill>
                <a:latin typeface="Segoe UI" panose="020B0502040204020203" pitchFamily="34" charset="0"/>
              </a:rPr>
              <a:t>url state · bookmark · page reload · visual</a:t>
            </a:r>
            <a:endParaRPr lang="en-IN" sz="900">
              <a:solidFill>
                <a:srgbClr val="2E75B6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79AB99-0835-10F3-15E8-1DB5224BF8CA}"/>
              </a:ext>
            </a:extLst>
          </p:cNvPr>
          <p:cNvSpPr txBox="1"/>
          <p:nvPr/>
        </p:nvSpPr>
        <p:spPr>
          <a:xfrm>
            <a:off x="635000" y="52959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100">
                <a:solidFill>
                  <a:srgbClr val="1F3864"/>
                </a:solidFill>
                <a:latin typeface="Segoe UI" panose="020B0502040204020203" pitchFamily="34" charset="0"/>
              </a:rPr>
              <a:t>• Navigate via Model Elements view, apply same filters, select all
• Switch to Navigator → wait for viewer load
• Screenshot glass+bookmark state
• page.reload() → assert URL contains filter params
• Screenshot confirms state restored after hard refresh</a:t>
            </a:r>
          </a:p>
        </p:txBody>
      </p:sp>
    </p:spTree>
    <p:extLst>
      <p:ext uri="{BB962C8B-B14F-4D97-AF65-F5344CB8AC3E}">
        <p14:creationId xmlns:p14="http://schemas.microsoft.com/office/powerpoint/2010/main" val="699591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5DF73A-F4E5-18E7-B9EC-9311581F88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2E271-B095-3E6C-13A4-34F59FE115D4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26589-D0A2-C9E5-888D-AF86000949DB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69FE4-C998-3273-3321-EF2681C54800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Module 2  |  Model Composer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3A41CE-4F01-8AE3-7B12-763363405F9F}"/>
              </a:ext>
            </a:extLst>
          </p:cNvPr>
          <p:cNvSpPr/>
          <p:nvPr/>
        </p:nvSpPr>
        <p:spPr>
          <a:xfrm>
            <a:off x="10033000" y="254000"/>
            <a:ext cx="1905000" cy="5588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0B1ED-0FA5-06EB-472F-517C6439C77E}"/>
              </a:ext>
            </a:extLst>
          </p:cNvPr>
          <p:cNvSpPr txBox="1"/>
          <p:nvPr/>
        </p:nvSpPr>
        <p:spPr>
          <a:xfrm>
            <a:off x="10033000" y="3556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17 Tests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F21BB7-DC55-1F09-BA80-7D5EBF33CE69}"/>
              </a:ext>
            </a:extLst>
          </p:cNvPr>
          <p:cNvSpPr/>
          <p:nvPr/>
        </p:nvSpPr>
        <p:spPr>
          <a:xfrm>
            <a:off x="381000" y="1333500"/>
            <a:ext cx="5334000" cy="5080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E53F81-0CA4-A733-504A-90E978CF0C0E}"/>
              </a:ext>
            </a:extLst>
          </p:cNvPr>
          <p:cNvSpPr/>
          <p:nvPr/>
        </p:nvSpPr>
        <p:spPr>
          <a:xfrm>
            <a:off x="381000" y="1333500"/>
            <a:ext cx="76200" cy="508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1C4B3-98EF-C995-5CE0-F596F453ACD9}"/>
              </a:ext>
            </a:extLst>
          </p:cNvPr>
          <p:cNvSpPr txBox="1"/>
          <p:nvPr/>
        </p:nvSpPr>
        <p:spPr>
          <a:xfrm>
            <a:off x="533400" y="13843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Benchmark / Counts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B97C4A-871B-D276-6829-9331075D0CD3}"/>
              </a:ext>
            </a:extLst>
          </p:cNvPr>
          <p:cNvSpPr txBox="1"/>
          <p:nvPr/>
        </p:nvSpPr>
        <p:spPr>
          <a:xfrm>
            <a:off x="533400" y="16129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Node Counts Benchmark (JSON snapshot)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EB5061-554A-AA83-8F96-F93CB9E89FB6}"/>
              </a:ext>
            </a:extLst>
          </p:cNvPr>
          <p:cNvSpPr/>
          <p:nvPr/>
        </p:nvSpPr>
        <p:spPr>
          <a:xfrm>
            <a:off x="381000" y="1943100"/>
            <a:ext cx="5334000" cy="5080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AC7EF9-DF5A-E9D0-EDC2-DBC7646ACA42}"/>
              </a:ext>
            </a:extLst>
          </p:cNvPr>
          <p:cNvSpPr/>
          <p:nvPr/>
        </p:nvSpPr>
        <p:spPr>
          <a:xfrm>
            <a:off x="381000" y="1943100"/>
            <a:ext cx="76200" cy="5080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88A22-B75D-18C9-B934-810050D8CE88}"/>
              </a:ext>
            </a:extLst>
          </p:cNvPr>
          <p:cNvSpPr txBox="1"/>
          <p:nvPr/>
        </p:nvSpPr>
        <p:spPr>
          <a:xfrm>
            <a:off x="533400" y="19939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Auto Compose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A43B3D-2439-6F23-60AC-6CD2949906C3}"/>
              </a:ext>
            </a:extLst>
          </p:cNvPr>
          <p:cNvSpPr txBox="1"/>
          <p:nvPr/>
        </p:nvSpPr>
        <p:spPr>
          <a:xfrm>
            <a:off x="533400" y="22225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Auto Compose Visibility – menu item states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D64F00-04BA-6AAC-CAB5-1DFAA3E51640}"/>
              </a:ext>
            </a:extLst>
          </p:cNvPr>
          <p:cNvSpPr/>
          <p:nvPr/>
        </p:nvSpPr>
        <p:spPr>
          <a:xfrm>
            <a:off x="381000" y="2552700"/>
            <a:ext cx="5334000" cy="17780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682CE-733F-EFB0-425E-55CFF86C875B}"/>
              </a:ext>
            </a:extLst>
          </p:cNvPr>
          <p:cNvSpPr/>
          <p:nvPr/>
        </p:nvSpPr>
        <p:spPr>
          <a:xfrm>
            <a:off x="381000" y="2552700"/>
            <a:ext cx="76200" cy="17780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324E3D-FCB2-B55F-BE62-BF4A6BFDD579}"/>
              </a:ext>
            </a:extLst>
          </p:cNvPr>
          <p:cNvSpPr txBox="1"/>
          <p:nvPr/>
        </p:nvSpPr>
        <p:spPr>
          <a:xfrm>
            <a:off x="533400" y="26035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Discipline Toggles (6)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D29867-CCDE-CAEA-912C-4B5E46A7E3E5}"/>
              </a:ext>
            </a:extLst>
          </p:cNvPr>
          <p:cNvSpPr txBox="1"/>
          <p:nvPr/>
        </p:nvSpPr>
        <p:spPr>
          <a:xfrm>
            <a:off x="533400" y="28321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All Disciplines – Low &amp; High quality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EAD024-28B0-0CFA-1064-513947954511}"/>
              </a:ext>
            </a:extLst>
          </p:cNvPr>
          <p:cNvSpPr txBox="1"/>
          <p:nvPr/>
        </p:nvSpPr>
        <p:spPr>
          <a:xfrm>
            <a:off x="533400" y="30607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No Disciplines – Low &amp; High quality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9B88BF-6E12-920D-FEF0-7DA1A6C20DAB}"/>
              </a:ext>
            </a:extLst>
          </p:cNvPr>
          <p:cNvSpPr txBox="1"/>
          <p:nvPr/>
        </p:nvSpPr>
        <p:spPr>
          <a:xfrm>
            <a:off x="533400" y="32893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Architectural only – Low &amp; High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568647-2C36-506E-4564-AA53BD7D3A37}"/>
              </a:ext>
            </a:extLst>
          </p:cNvPr>
          <p:cNvSpPr txBox="1"/>
          <p:nvPr/>
        </p:nvSpPr>
        <p:spPr>
          <a:xfrm>
            <a:off x="533400" y="35179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Plumbing only – Low &amp; High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95827B-7345-90CD-793B-0756230790F5}"/>
              </a:ext>
            </a:extLst>
          </p:cNvPr>
          <p:cNvSpPr txBox="1"/>
          <p:nvPr/>
        </p:nvSpPr>
        <p:spPr>
          <a:xfrm>
            <a:off x="533400" y="37465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Electrical only – Low &amp; High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60FE61-2518-21F9-34E9-D63EE2E23742}"/>
              </a:ext>
            </a:extLst>
          </p:cNvPr>
          <p:cNvSpPr txBox="1"/>
          <p:nvPr/>
        </p:nvSpPr>
        <p:spPr>
          <a:xfrm>
            <a:off x="533400" y="39751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GUI Helper only – Low &amp; High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6034F9-F746-77A6-7E16-2B633482BD49}"/>
              </a:ext>
            </a:extLst>
          </p:cNvPr>
          <p:cNvSpPr/>
          <p:nvPr/>
        </p:nvSpPr>
        <p:spPr>
          <a:xfrm>
            <a:off x="381000" y="4432300"/>
            <a:ext cx="5334000" cy="10160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A7E716-AE33-DBF5-B1E6-5CEA7619BD42}"/>
              </a:ext>
            </a:extLst>
          </p:cNvPr>
          <p:cNvSpPr/>
          <p:nvPr/>
        </p:nvSpPr>
        <p:spPr>
          <a:xfrm>
            <a:off x="381000" y="4432300"/>
            <a:ext cx="76200" cy="1016000"/>
          </a:xfrm>
          <a:prstGeom prst="rect">
            <a:avLst/>
          </a:prstGeom>
          <a:solidFill>
            <a:srgbClr val="007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C2B7CE-98DB-03E0-697F-25126B95CF56}"/>
              </a:ext>
            </a:extLst>
          </p:cNvPr>
          <p:cNvSpPr txBox="1"/>
          <p:nvPr/>
        </p:nvSpPr>
        <p:spPr>
          <a:xfrm>
            <a:off x="533400" y="44831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Federated Actions (3)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256045-54D3-3C2F-BA78-10A7396F725C}"/>
              </a:ext>
            </a:extLst>
          </p:cNvPr>
          <p:cNvSpPr txBox="1"/>
          <p:nvPr/>
        </p:nvSpPr>
        <p:spPr>
          <a:xfrm>
            <a:off x="533400" y="47117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Switch to Load Everything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3BAD08-31D4-A43B-33D5-C26A2B98DA4E}"/>
              </a:ext>
            </a:extLst>
          </p:cNvPr>
          <p:cNvSpPr txBox="1"/>
          <p:nvPr/>
        </p:nvSpPr>
        <p:spPr>
          <a:xfrm>
            <a:off x="533400" y="49403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Show All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99540-5C39-448C-E5C7-ACC1EAE871A6}"/>
              </a:ext>
            </a:extLst>
          </p:cNvPr>
          <p:cNvSpPr txBox="1"/>
          <p:nvPr/>
        </p:nvSpPr>
        <p:spPr>
          <a:xfrm>
            <a:off x="533400" y="51689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Hide All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6FAF20-F638-5C23-7751-871290704D9D}"/>
              </a:ext>
            </a:extLst>
          </p:cNvPr>
          <p:cNvSpPr/>
          <p:nvPr/>
        </p:nvSpPr>
        <p:spPr>
          <a:xfrm>
            <a:off x="381000" y="5549900"/>
            <a:ext cx="5334000" cy="10160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B395BB-B3D9-8DB8-72D3-D75FD8789658}"/>
              </a:ext>
            </a:extLst>
          </p:cNvPr>
          <p:cNvSpPr/>
          <p:nvPr/>
        </p:nvSpPr>
        <p:spPr>
          <a:xfrm>
            <a:off x="381000" y="5549900"/>
            <a:ext cx="76200" cy="10160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F187C7-80FF-071B-9140-E67423BC0A6D}"/>
              </a:ext>
            </a:extLst>
          </p:cNvPr>
          <p:cNvSpPr txBox="1"/>
          <p:nvPr/>
        </p:nvSpPr>
        <p:spPr>
          <a:xfrm>
            <a:off x="533400" y="56007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Sub-Item Actions (6)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9BEA62-D4CC-D2BA-8BCE-D65350B87584}"/>
              </a:ext>
            </a:extLst>
          </p:cNvPr>
          <p:cNvSpPr txBox="1"/>
          <p:nvPr/>
        </p:nvSpPr>
        <p:spPr>
          <a:xfrm>
            <a:off x="533400" y="58293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Structural · Architectural · Mechanical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63BBFF-1A65-757F-48D1-E8ADA0540B01}"/>
              </a:ext>
            </a:extLst>
          </p:cNvPr>
          <p:cNvSpPr txBox="1"/>
          <p:nvPr/>
        </p:nvSpPr>
        <p:spPr>
          <a:xfrm>
            <a:off x="533400" y="60579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Electrical · Plumbing · Fire Protection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AD4893-A2C5-016C-FF1C-CE62580E1ACF}"/>
              </a:ext>
            </a:extLst>
          </p:cNvPr>
          <p:cNvSpPr txBox="1"/>
          <p:nvPr/>
        </p:nvSpPr>
        <p:spPr>
          <a:xfrm>
            <a:off x="533400" y="62865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Each: Load → Show → Hide per layer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5D48F0-4C66-BC3C-B9F7-6B934C703E86}"/>
              </a:ext>
            </a:extLst>
          </p:cNvPr>
          <p:cNvSpPr txBox="1"/>
          <p:nvPr/>
        </p:nvSpPr>
        <p:spPr>
          <a:xfrm>
            <a:off x="6223000" y="13335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 b="1">
                <a:solidFill>
                  <a:srgbClr val="16305C"/>
                </a:solidFill>
                <a:latin typeface="Segoe UI" panose="020B0502040204020203" pitchFamily="34" charset="0"/>
              </a:rPr>
              <a:t>What Gets Verified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FA12CD-36C3-4338-2AAE-8377F523EA5E}"/>
              </a:ext>
            </a:extLst>
          </p:cNvPr>
          <p:cNvSpPr/>
          <p:nvPr/>
        </p:nvSpPr>
        <p:spPr>
          <a:xfrm>
            <a:off x="6223000" y="1676400"/>
            <a:ext cx="762000" cy="50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1C33142-DF53-1088-77F9-B161E5552409}"/>
              </a:ext>
            </a:extLst>
          </p:cNvPr>
          <p:cNvSpPr/>
          <p:nvPr/>
        </p:nvSpPr>
        <p:spPr>
          <a:xfrm>
            <a:off x="6248400" y="1879600"/>
            <a:ext cx="381000" cy="3048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344D32-E8F6-9516-78E1-225776213FCD}"/>
              </a:ext>
            </a:extLst>
          </p:cNvPr>
          <p:cNvSpPr txBox="1"/>
          <p:nvPr/>
        </p:nvSpPr>
        <p:spPr>
          <a:xfrm>
            <a:off x="6248400" y="19304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VS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9071FE-EF9D-4DEE-8639-270DDE290C3E}"/>
              </a:ext>
            </a:extLst>
          </p:cNvPr>
          <p:cNvSpPr txBox="1"/>
          <p:nvPr/>
        </p:nvSpPr>
        <p:spPr>
          <a:xfrm>
            <a:off x="6731000" y="1879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Visual screenshot comparison for each discipline / quality combination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6A9C424-F13F-BB9B-797E-BF87F71A86BE}"/>
              </a:ext>
            </a:extLst>
          </p:cNvPr>
          <p:cNvSpPr/>
          <p:nvPr/>
        </p:nvSpPr>
        <p:spPr>
          <a:xfrm>
            <a:off x="6248400" y="2590800"/>
            <a:ext cx="381000" cy="3048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7A3275-FB42-D849-8537-E105F25E45C4}"/>
              </a:ext>
            </a:extLst>
          </p:cNvPr>
          <p:cNvSpPr txBox="1"/>
          <p:nvPr/>
        </p:nvSpPr>
        <p:spPr>
          <a:xfrm>
            <a:off x="6248400" y="26416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ST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F945C8-5944-A989-B607-6D02B5E00C1D}"/>
              </a:ext>
            </a:extLst>
          </p:cNvPr>
          <p:cNvSpPr txBox="1"/>
          <p:nvPr/>
        </p:nvSpPr>
        <p:spPr>
          <a:xfrm>
            <a:off x="6731000" y="2590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Viewer state: disciplines visible/hidden as expected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B0FE38C-266C-C869-B68F-455AE77A333C}"/>
              </a:ext>
            </a:extLst>
          </p:cNvPr>
          <p:cNvSpPr/>
          <p:nvPr/>
        </p:nvSpPr>
        <p:spPr>
          <a:xfrm>
            <a:off x="6248400" y="3302000"/>
            <a:ext cx="381000" cy="3048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67B8AD-5B7D-C85B-9D21-D993B58018AD}"/>
              </a:ext>
            </a:extLst>
          </p:cNvPr>
          <p:cNvSpPr txBox="1"/>
          <p:nvPr/>
        </p:nvSpPr>
        <p:spPr>
          <a:xfrm>
            <a:off x="6248400" y="33528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UI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D094A9-77EE-B283-65F0-E54F9BBADB2A}"/>
              </a:ext>
            </a:extLst>
          </p:cNvPr>
          <p:cNvSpPr txBox="1"/>
          <p:nvPr/>
        </p:nvSpPr>
        <p:spPr>
          <a:xfrm>
            <a:off x="6731000" y="33020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Auto-compose checkbox controls menu item enabled/disabled states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5EBDB4D-2A5B-C3D0-8CC8-8CC68EFB8333}"/>
              </a:ext>
            </a:extLst>
          </p:cNvPr>
          <p:cNvSpPr/>
          <p:nvPr/>
        </p:nvSpPr>
        <p:spPr>
          <a:xfrm>
            <a:off x="6248400" y="4013200"/>
            <a:ext cx="381000" cy="3048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B380CB-26B6-C8D2-B099-18537DC5B33B}"/>
              </a:ext>
            </a:extLst>
          </p:cNvPr>
          <p:cNvSpPr txBox="1"/>
          <p:nvPr/>
        </p:nvSpPr>
        <p:spPr>
          <a:xfrm>
            <a:off x="6248400" y="4064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FS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72095E-EC9E-B656-77B1-E924275E7B88}"/>
              </a:ext>
            </a:extLst>
          </p:cNvPr>
          <p:cNvSpPr txBox="1"/>
          <p:nvPr/>
        </p:nvSpPr>
        <p:spPr>
          <a:xfrm>
            <a:off x="6731000" y="40132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Federated model actions: Show/Hide/LoadAll applied across all sub-layers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FB50A71-9165-CFD9-119B-567582ACA47D}"/>
              </a:ext>
            </a:extLst>
          </p:cNvPr>
          <p:cNvSpPr/>
          <p:nvPr/>
        </p:nvSpPr>
        <p:spPr>
          <a:xfrm>
            <a:off x="6248400" y="4724400"/>
            <a:ext cx="381000" cy="3048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98C44B-23C4-9D94-FBFC-E91E84116DF5}"/>
              </a:ext>
            </a:extLst>
          </p:cNvPr>
          <p:cNvSpPr txBox="1"/>
          <p:nvPr/>
        </p:nvSpPr>
        <p:spPr>
          <a:xfrm>
            <a:off x="6248400" y="47752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LH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9EE9F9-032F-BDA5-D501-0BF87F2C3903}"/>
              </a:ext>
            </a:extLst>
          </p:cNvPr>
          <p:cNvSpPr txBox="1"/>
          <p:nvPr/>
        </p:nvSpPr>
        <p:spPr>
          <a:xfrm>
            <a:off x="6731000" y="4724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Sub-item Load → Show → Hide cycle per discipline with screenshot proof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C9545EB-346E-6B11-F323-5533827A7CE8}"/>
              </a:ext>
            </a:extLst>
          </p:cNvPr>
          <p:cNvSpPr/>
          <p:nvPr/>
        </p:nvSpPr>
        <p:spPr>
          <a:xfrm>
            <a:off x="6248400" y="5435600"/>
            <a:ext cx="381000" cy="304800"/>
          </a:xfrm>
          <a:prstGeom prst="round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D10A93-4AA4-FCA1-B262-BF742E11B030}"/>
              </a:ext>
            </a:extLst>
          </p:cNvPr>
          <p:cNvSpPr txBox="1"/>
          <p:nvPr/>
        </p:nvSpPr>
        <p:spPr>
          <a:xfrm>
            <a:off x="6248400" y="54864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BM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DCED4E-6382-7A5E-0ADA-1A9ED356AB30}"/>
              </a:ext>
            </a:extLst>
          </p:cNvPr>
          <p:cNvSpPr txBox="1"/>
          <p:nvPr/>
        </p:nvSpPr>
        <p:spPr>
          <a:xfrm>
            <a:off x="6731000" y="5435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Node count JSON snapshot catches regressions in model geometry loading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25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4B0908-BA76-9D39-EA70-28F6057B80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681D17-DD09-61EE-71AD-9468E22C972D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C9FB0E-D5E8-E778-B146-F171A51C2D59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CC001-BE36-F9D2-1E70-E8467EEFC11D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Module 3  |  Viewer Toolbar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01811E-EDBB-8CAB-B8D0-F90CDB33AAA5}"/>
              </a:ext>
            </a:extLst>
          </p:cNvPr>
          <p:cNvSpPr/>
          <p:nvPr/>
        </p:nvSpPr>
        <p:spPr>
          <a:xfrm>
            <a:off x="10033000" y="254000"/>
            <a:ext cx="1905000" cy="5588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DA16B-1015-570D-3414-9E73C20AF4E3}"/>
              </a:ext>
            </a:extLst>
          </p:cNvPr>
          <p:cNvSpPr txBox="1"/>
          <p:nvPr/>
        </p:nvSpPr>
        <p:spPr>
          <a:xfrm>
            <a:off x="10033000" y="3556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21 Tests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D6EF18-56AC-28A4-A288-F36454ABB92B}"/>
              </a:ext>
            </a:extLst>
          </p:cNvPr>
          <p:cNvSpPr/>
          <p:nvPr/>
        </p:nvSpPr>
        <p:spPr>
          <a:xfrm>
            <a:off x="381000" y="1333500"/>
            <a:ext cx="5461000" cy="965200"/>
          </a:xfrm>
          <a:prstGeom prst="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E0EE67-720D-6B13-DFE0-4E617519BC66}"/>
              </a:ext>
            </a:extLst>
          </p:cNvPr>
          <p:cNvSpPr/>
          <p:nvPr/>
        </p:nvSpPr>
        <p:spPr>
          <a:xfrm>
            <a:off x="381000" y="1333500"/>
            <a:ext cx="63500" cy="9652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F77E8-830B-BDF6-2916-9E69B929CA97}"/>
              </a:ext>
            </a:extLst>
          </p:cNvPr>
          <p:cNvSpPr txBox="1"/>
          <p:nvPr/>
        </p:nvSpPr>
        <p:spPr>
          <a:xfrm>
            <a:off x="533400" y="13843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View Controls (8)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D5C4B-355A-D074-17C4-7BD484149F52}"/>
              </a:ext>
            </a:extLst>
          </p:cNvPr>
          <p:cNvSpPr txBox="1"/>
          <p:nvPr/>
        </p:nvSpPr>
        <p:spPr>
          <a:xfrm>
            <a:off x="533400" y="16383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Reset 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4EBD3-7823-7C83-35F1-52D23C461EC4}"/>
              </a:ext>
            </a:extLst>
          </p:cNvPr>
          <p:cNvSpPr txBox="1"/>
          <p:nvPr/>
        </p:nvSpPr>
        <p:spPr>
          <a:xfrm>
            <a:off x="533400" y="18542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Projection 3D↔2D toggle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94D2-E4ED-7200-C11F-73967717FA31}"/>
              </a:ext>
            </a:extLst>
          </p:cNvPr>
          <p:cNvSpPr txBox="1"/>
          <p:nvPr/>
        </p:nvSpPr>
        <p:spPr>
          <a:xfrm>
            <a:off x="533400" y="20701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Top · Bottom · Left · Right · Front · Back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F458BE-509C-4DA0-EE20-950BDA4A0D6D}"/>
              </a:ext>
            </a:extLst>
          </p:cNvPr>
          <p:cNvSpPr/>
          <p:nvPr/>
        </p:nvSpPr>
        <p:spPr>
          <a:xfrm>
            <a:off x="381000" y="2400300"/>
            <a:ext cx="5461000" cy="1193800"/>
          </a:xfrm>
          <a:prstGeom prst="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0A716F-03BB-AAAA-2AF1-E9B78B64E1F1}"/>
              </a:ext>
            </a:extLst>
          </p:cNvPr>
          <p:cNvSpPr/>
          <p:nvPr/>
        </p:nvSpPr>
        <p:spPr>
          <a:xfrm>
            <a:off x="381000" y="2400300"/>
            <a:ext cx="63500" cy="1193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E4F6E4-EFE0-F0DD-4793-60615CF830E4}"/>
              </a:ext>
            </a:extLst>
          </p:cNvPr>
          <p:cNvSpPr txBox="1"/>
          <p:nvPr/>
        </p:nvSpPr>
        <p:spPr>
          <a:xfrm>
            <a:off x="533400" y="24511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Shading Modes (1)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DCC1B3-7B9B-703F-C181-0FEA673B4124}"/>
              </a:ext>
            </a:extLst>
          </p:cNvPr>
          <p:cNvSpPr txBox="1"/>
          <p:nvPr/>
        </p:nvSpPr>
        <p:spPr>
          <a:xfrm>
            <a:off x="533400" y="27051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Full Shading w/ Lines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07E5A-ED26-BB0A-01CB-928DAEAAB77F}"/>
              </a:ext>
            </a:extLst>
          </p:cNvPr>
          <p:cNvSpPr txBox="1"/>
          <p:nvPr/>
        </p:nvSpPr>
        <p:spPr>
          <a:xfrm>
            <a:off x="533400" y="2921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Full Shading No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43CAA0-1929-BA4C-513A-37F85750D86A}"/>
              </a:ext>
            </a:extLst>
          </p:cNvPr>
          <p:cNvSpPr txBox="1"/>
          <p:nvPr/>
        </p:nvSpPr>
        <p:spPr>
          <a:xfrm>
            <a:off x="533400" y="31369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Edges &amp; Lines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350F18-6F35-7E03-1710-CC80FDF7BAAE}"/>
              </a:ext>
            </a:extLst>
          </p:cNvPr>
          <p:cNvSpPr txBox="1"/>
          <p:nvPr/>
        </p:nvSpPr>
        <p:spPr>
          <a:xfrm>
            <a:off x="533400" y="33528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Glass 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0D7025-8696-8F01-78AE-1BB98680DFD8}"/>
              </a:ext>
            </a:extLst>
          </p:cNvPr>
          <p:cNvSpPr/>
          <p:nvPr/>
        </p:nvSpPr>
        <p:spPr>
          <a:xfrm>
            <a:off x="381000" y="3695700"/>
            <a:ext cx="5461000" cy="965200"/>
          </a:xfrm>
          <a:prstGeom prst="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CAD860-5A72-90B3-60C0-9500ACFA56F3}"/>
              </a:ext>
            </a:extLst>
          </p:cNvPr>
          <p:cNvSpPr/>
          <p:nvPr/>
        </p:nvSpPr>
        <p:spPr>
          <a:xfrm>
            <a:off x="381000" y="3695700"/>
            <a:ext cx="63500" cy="9652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AD4259-41AF-AE4F-06C7-1E623BBED5C9}"/>
              </a:ext>
            </a:extLst>
          </p:cNvPr>
          <p:cNvSpPr txBox="1"/>
          <p:nvPr/>
        </p:nvSpPr>
        <p:spPr>
          <a:xfrm>
            <a:off x="533400" y="37465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Cutting Planes (3)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E1840E-52FD-1C0B-CEE3-AAA1E6F1EF34}"/>
              </a:ext>
            </a:extLst>
          </p:cNvPr>
          <p:cNvSpPr txBox="1"/>
          <p:nvPr/>
        </p:nvSpPr>
        <p:spPr>
          <a:xfrm>
            <a:off x="533400" y="40005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Standard Planes – Show ON (6 axes × 3 positions)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AEFB0-0AB1-3FE0-BA1F-823FCA53AD11}"/>
              </a:ext>
            </a:extLst>
          </p:cNvPr>
          <p:cNvSpPr txBox="1"/>
          <p:nvPr/>
        </p:nvSpPr>
        <p:spPr>
          <a:xfrm>
            <a:off x="533400" y="42164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Standard Planes – Show OFF (6 axes × 3 positions)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08737C-91EF-2D9D-860C-91FDDE23AAFD}"/>
              </a:ext>
            </a:extLst>
          </p:cNvPr>
          <p:cNvSpPr txBox="1"/>
          <p:nvPr/>
        </p:nvSpPr>
        <p:spPr>
          <a:xfrm>
            <a:off x="533400" y="44323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Focused Planes – size slider 0/25/50/75/100%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A5F128-6A1E-C13D-5E1F-9DEF4BBFA916}"/>
              </a:ext>
            </a:extLst>
          </p:cNvPr>
          <p:cNvSpPr/>
          <p:nvPr/>
        </p:nvSpPr>
        <p:spPr>
          <a:xfrm>
            <a:off x="6223000" y="1333500"/>
            <a:ext cx="5461000" cy="508000"/>
          </a:xfrm>
          <a:prstGeom prst="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6B198B-9CF7-EDDD-0DC4-6D544E144372}"/>
              </a:ext>
            </a:extLst>
          </p:cNvPr>
          <p:cNvSpPr/>
          <p:nvPr/>
        </p:nvSpPr>
        <p:spPr>
          <a:xfrm>
            <a:off x="6223000" y="1333500"/>
            <a:ext cx="63500" cy="5080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7BF422-BB6B-8224-EB5D-C4C560566BE6}"/>
              </a:ext>
            </a:extLst>
          </p:cNvPr>
          <p:cNvSpPr txBox="1"/>
          <p:nvPr/>
        </p:nvSpPr>
        <p:spPr>
          <a:xfrm>
            <a:off x="6375400" y="13843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3D Viewer (1)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B6F956-22B4-010D-DAEF-B11DB91BE5D0}"/>
              </a:ext>
            </a:extLst>
          </p:cNvPr>
          <p:cNvSpPr txBox="1"/>
          <p:nvPr/>
        </p:nvSpPr>
        <p:spPr>
          <a:xfrm>
            <a:off x="6375400" y="16383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1F3864"/>
                </a:solidFill>
                <a:latin typeface="Segoe UI" panose="020B0502040204020203" pitchFamily="34" charset="0"/>
              </a:rPr>
              <a:t>  • Disable (canvas hidden) + Enable (canvas restored)</a:t>
            </a:r>
            <a:endParaRPr lang="en-IN" sz="10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24DEF1-4BA4-A937-2068-7A72F0FFF151}"/>
              </a:ext>
            </a:extLst>
          </p:cNvPr>
          <p:cNvSpPr/>
          <p:nvPr/>
        </p:nvSpPr>
        <p:spPr>
          <a:xfrm>
            <a:off x="6223000" y="1943100"/>
            <a:ext cx="5461000" cy="1193800"/>
          </a:xfrm>
          <a:prstGeom prst="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E1854F-89AD-E064-ED7B-E4A54ACCF5CE}"/>
              </a:ext>
            </a:extLst>
          </p:cNvPr>
          <p:cNvSpPr/>
          <p:nvPr/>
        </p:nvSpPr>
        <p:spPr>
          <a:xfrm>
            <a:off x="6223000" y="1943100"/>
            <a:ext cx="63500" cy="1193800"/>
          </a:xfrm>
          <a:prstGeom prst="rect">
            <a:avLst/>
          </a:prstGeom>
          <a:solidFill>
            <a:srgbClr val="00B0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BD74BD-5227-B6CB-5173-8B99822F6BFA}"/>
              </a:ext>
            </a:extLst>
          </p:cNvPr>
          <p:cNvSpPr txBox="1"/>
          <p:nvPr/>
        </p:nvSpPr>
        <p:spPr>
          <a:xfrm>
            <a:off x="6375400" y="19939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2D Viewer (6)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6A8463-C331-62B5-FA1E-418BF1083913}"/>
              </a:ext>
            </a:extLst>
          </p:cNvPr>
          <p:cNvSpPr txBox="1"/>
          <p:nvPr/>
        </p:nvSpPr>
        <p:spPr>
          <a:xfrm>
            <a:off x="6375400" y="22479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Full Screen · Half Screen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A01C71-630E-61A9-6E0F-A3C52DD6EB83}"/>
              </a:ext>
            </a:extLst>
          </p:cNvPr>
          <p:cNvSpPr txBox="1"/>
          <p:nvPr/>
        </p:nvSpPr>
        <p:spPr>
          <a:xfrm>
            <a:off x="6375400" y="24638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Zoom In · Zoom Out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AFEB9C-12E1-348B-B9D2-86A3CF4B2AFB}"/>
              </a:ext>
            </a:extLst>
          </p:cNvPr>
          <p:cNvSpPr txBox="1"/>
          <p:nvPr/>
        </p:nvSpPr>
        <p:spPr>
          <a:xfrm>
            <a:off x="6375400" y="26797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Drag Area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C0920B-6102-885D-6372-C036B2A39298}"/>
              </a:ext>
            </a:extLst>
          </p:cNvPr>
          <p:cNvSpPr txBox="1"/>
          <p:nvPr/>
        </p:nvSpPr>
        <p:spPr>
          <a:xfrm>
            <a:off x="6375400" y="2895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Disable and Enable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746BC7-644C-3E31-807B-C1576D1F1DFB}"/>
              </a:ext>
            </a:extLst>
          </p:cNvPr>
          <p:cNvSpPr/>
          <p:nvPr/>
        </p:nvSpPr>
        <p:spPr>
          <a:xfrm>
            <a:off x="6223000" y="3238500"/>
            <a:ext cx="5461000" cy="736600"/>
          </a:xfrm>
          <a:prstGeom prst="rect">
            <a:avLst/>
          </a:prstGeom>
          <a:solidFill>
            <a:srgbClr val="F5F8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7C7168-ED18-3FE2-9C56-0EB1F9CC2EF6}"/>
              </a:ext>
            </a:extLst>
          </p:cNvPr>
          <p:cNvSpPr/>
          <p:nvPr/>
        </p:nvSpPr>
        <p:spPr>
          <a:xfrm>
            <a:off x="6223000" y="3238500"/>
            <a:ext cx="63500" cy="7366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8A148-8673-6299-15CF-792D75FB0836}"/>
              </a:ext>
            </a:extLst>
          </p:cNvPr>
          <p:cNvSpPr txBox="1"/>
          <p:nvPr/>
        </p:nvSpPr>
        <p:spPr>
          <a:xfrm>
            <a:off x="6375400" y="32893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Focus Mode (2)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586B06-E482-FDD9-EBDD-984975990541}"/>
              </a:ext>
            </a:extLst>
          </p:cNvPr>
          <p:cNvSpPr txBox="1"/>
          <p:nvPr/>
        </p:nvSpPr>
        <p:spPr>
          <a:xfrm>
            <a:off x="6375400" y="35433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Enable Focus Mode (element selected)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EA22E3-21B0-F722-3BC1-B605F531C4BD}"/>
              </a:ext>
            </a:extLst>
          </p:cNvPr>
          <p:cNvSpPr txBox="1"/>
          <p:nvPr/>
        </p:nvSpPr>
        <p:spPr>
          <a:xfrm>
            <a:off x="6375400" y="37592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1F3864"/>
                </a:solidFill>
                <a:latin typeface="Segoe UI" panose="020B0502040204020203" pitchFamily="34" charset="0"/>
              </a:rPr>
              <a:t>  • Disable Focus Mode (button click → same selection)</a:t>
            </a:r>
          </a:p>
        </p:txBody>
      </p:sp>
    </p:spTree>
    <p:extLst>
      <p:ext uri="{BB962C8B-B14F-4D97-AF65-F5344CB8AC3E}">
        <p14:creationId xmlns:p14="http://schemas.microsoft.com/office/powerpoint/2010/main" val="1003177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85543C-0221-E056-1B3C-A68F1E7E8B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ED1AD-580A-AD5A-F3EF-ADF735FDEA29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FB61AA-E43D-26E4-A26D-29D09A1CB77B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9CAB2-A910-1585-D511-C9A0EE3E9CE8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Module 4  |  Annotations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A962FE-533E-5BA5-CCDE-DD08FC403287}"/>
              </a:ext>
            </a:extLst>
          </p:cNvPr>
          <p:cNvSpPr/>
          <p:nvPr/>
        </p:nvSpPr>
        <p:spPr>
          <a:xfrm>
            <a:off x="10033000" y="254000"/>
            <a:ext cx="1905000" cy="5588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B5C1D-CE64-3612-2E31-82708C3B8BA7}"/>
              </a:ext>
            </a:extLst>
          </p:cNvPr>
          <p:cNvSpPr txBox="1"/>
          <p:nvPr/>
        </p:nvSpPr>
        <p:spPr>
          <a:xfrm>
            <a:off x="10033000" y="3556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13 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59372-9361-501D-637B-31392761372E}"/>
              </a:ext>
            </a:extLst>
          </p:cNvPr>
          <p:cNvSpPr txBox="1"/>
          <p:nvPr/>
        </p:nvSpPr>
        <p:spPr>
          <a:xfrm>
            <a:off x="508000" y="13335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 b="1">
                <a:solidFill>
                  <a:srgbClr val="16305C"/>
                </a:solidFill>
                <a:latin typeface="Segoe UI" panose="020B0502040204020203" pitchFamily="34" charset="0"/>
              </a:rPr>
              <a:t>Drawing Tool Tests (9)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EB455C-6BC3-6F1C-8528-3B8D49ACD0FF}"/>
              </a:ext>
            </a:extLst>
          </p:cNvPr>
          <p:cNvSpPr/>
          <p:nvPr/>
        </p:nvSpPr>
        <p:spPr>
          <a:xfrm>
            <a:off x="508000" y="1727200"/>
            <a:ext cx="1016000" cy="50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DF1C20-A8C2-66EC-AE4D-0577547F3971}"/>
              </a:ext>
            </a:extLst>
          </p:cNvPr>
          <p:cNvSpPr/>
          <p:nvPr/>
        </p:nvSpPr>
        <p:spPr>
          <a:xfrm>
            <a:off x="508000" y="18796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5A6172-22DD-1CDF-F876-71D9D5434522}"/>
              </a:ext>
            </a:extLst>
          </p:cNvPr>
          <p:cNvSpPr/>
          <p:nvPr/>
        </p:nvSpPr>
        <p:spPr>
          <a:xfrm>
            <a:off x="508000" y="18796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18C75-55AD-DF34-7222-9044321974BE}"/>
              </a:ext>
            </a:extLst>
          </p:cNvPr>
          <p:cNvSpPr txBox="1"/>
          <p:nvPr/>
        </p:nvSpPr>
        <p:spPr>
          <a:xfrm>
            <a:off x="635000" y="20701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Check Distance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B02D2-31BB-D554-DDC8-802D33601334}"/>
              </a:ext>
            </a:extLst>
          </p:cNvPr>
          <p:cNvSpPr txBox="1"/>
          <p:nvPr/>
        </p:nvSpPr>
        <p:spPr>
          <a:xfrm>
            <a:off x="635000" y="23495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B05D28-03B5-85B8-D78C-ABEFCC4DB2DD}"/>
              </a:ext>
            </a:extLst>
          </p:cNvPr>
          <p:cNvSpPr/>
          <p:nvPr/>
        </p:nvSpPr>
        <p:spPr>
          <a:xfrm>
            <a:off x="2438400" y="18796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690EFB-202E-7DFC-E609-D68EF8853042}"/>
              </a:ext>
            </a:extLst>
          </p:cNvPr>
          <p:cNvSpPr/>
          <p:nvPr/>
        </p:nvSpPr>
        <p:spPr>
          <a:xfrm>
            <a:off x="2438400" y="18796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14B61-A4CA-A608-34B3-E322DF3CC2AB}"/>
              </a:ext>
            </a:extLst>
          </p:cNvPr>
          <p:cNvSpPr txBox="1"/>
          <p:nvPr/>
        </p:nvSpPr>
        <p:spPr>
          <a:xfrm>
            <a:off x="2565400" y="20701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C76071-DA2D-ACD6-A89C-1771B080065C}"/>
              </a:ext>
            </a:extLst>
          </p:cNvPr>
          <p:cNvSpPr txBox="1"/>
          <p:nvPr/>
        </p:nvSpPr>
        <p:spPr>
          <a:xfrm>
            <a:off x="2565400" y="23495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E11225-6730-2DD8-6BB9-321AD6C119B7}"/>
              </a:ext>
            </a:extLst>
          </p:cNvPr>
          <p:cNvSpPr/>
          <p:nvPr/>
        </p:nvSpPr>
        <p:spPr>
          <a:xfrm>
            <a:off x="4368800" y="18796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EDC164-4855-9AF8-2058-F90CE759EFC2}"/>
              </a:ext>
            </a:extLst>
          </p:cNvPr>
          <p:cNvSpPr/>
          <p:nvPr/>
        </p:nvSpPr>
        <p:spPr>
          <a:xfrm>
            <a:off x="4368800" y="18796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44DA2B-358D-B5B8-2406-226C7BED431C}"/>
              </a:ext>
            </a:extLst>
          </p:cNvPr>
          <p:cNvSpPr txBox="1"/>
          <p:nvPr/>
        </p:nvSpPr>
        <p:spPr>
          <a:xfrm>
            <a:off x="4495800" y="20701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Circle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51D8BC-24BD-8D37-36CB-469FED50A594}"/>
              </a:ext>
            </a:extLst>
          </p:cNvPr>
          <p:cNvSpPr txBox="1"/>
          <p:nvPr/>
        </p:nvSpPr>
        <p:spPr>
          <a:xfrm>
            <a:off x="4495800" y="23495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9DAA52-4A34-F613-B72B-8F0972461BA9}"/>
              </a:ext>
            </a:extLst>
          </p:cNvPr>
          <p:cNvSpPr/>
          <p:nvPr/>
        </p:nvSpPr>
        <p:spPr>
          <a:xfrm>
            <a:off x="508000" y="26924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EADB18-933A-C485-6CBB-2A99722E8FEC}"/>
              </a:ext>
            </a:extLst>
          </p:cNvPr>
          <p:cNvSpPr/>
          <p:nvPr/>
        </p:nvSpPr>
        <p:spPr>
          <a:xfrm>
            <a:off x="508000" y="26924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151B01-B0DC-8CB8-ED80-D9DDF9541742}"/>
              </a:ext>
            </a:extLst>
          </p:cNvPr>
          <p:cNvSpPr txBox="1"/>
          <p:nvPr/>
        </p:nvSpPr>
        <p:spPr>
          <a:xfrm>
            <a:off x="635000" y="28829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Rectangle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5A0D83-F29B-9F6F-2802-5F949734DA22}"/>
              </a:ext>
            </a:extLst>
          </p:cNvPr>
          <p:cNvSpPr txBox="1"/>
          <p:nvPr/>
        </p:nvSpPr>
        <p:spPr>
          <a:xfrm>
            <a:off x="635000" y="31623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00B7FB2-F9F3-DEEF-65CA-9024232FAA6B}"/>
              </a:ext>
            </a:extLst>
          </p:cNvPr>
          <p:cNvSpPr/>
          <p:nvPr/>
        </p:nvSpPr>
        <p:spPr>
          <a:xfrm>
            <a:off x="2438400" y="26924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3A9F9D-DF0D-2DD0-BA6C-18A2F6E3FC08}"/>
              </a:ext>
            </a:extLst>
          </p:cNvPr>
          <p:cNvSpPr/>
          <p:nvPr/>
        </p:nvSpPr>
        <p:spPr>
          <a:xfrm>
            <a:off x="2438400" y="26924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016587-B344-60CE-7ED6-D575251151A7}"/>
              </a:ext>
            </a:extLst>
          </p:cNvPr>
          <p:cNvSpPr txBox="1"/>
          <p:nvPr/>
        </p:nvSpPr>
        <p:spPr>
          <a:xfrm>
            <a:off x="2565400" y="28829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Polyline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7266FF-9B48-5FBF-2638-8FF09D444ABB}"/>
              </a:ext>
            </a:extLst>
          </p:cNvPr>
          <p:cNvSpPr txBox="1"/>
          <p:nvPr/>
        </p:nvSpPr>
        <p:spPr>
          <a:xfrm>
            <a:off x="2565400" y="31623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A7308B1-F75C-2E45-0510-5D956830B474}"/>
              </a:ext>
            </a:extLst>
          </p:cNvPr>
          <p:cNvSpPr/>
          <p:nvPr/>
        </p:nvSpPr>
        <p:spPr>
          <a:xfrm>
            <a:off x="4368800" y="26924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084651-3354-FB9C-7475-9DD7A877DAB5}"/>
              </a:ext>
            </a:extLst>
          </p:cNvPr>
          <p:cNvSpPr/>
          <p:nvPr/>
        </p:nvSpPr>
        <p:spPr>
          <a:xfrm>
            <a:off x="4368800" y="26924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A17E32-56AB-7B44-A994-F874137CE597}"/>
              </a:ext>
            </a:extLst>
          </p:cNvPr>
          <p:cNvSpPr txBox="1"/>
          <p:nvPr/>
        </p:nvSpPr>
        <p:spPr>
          <a:xfrm>
            <a:off x="4495800" y="28829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Polygon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4ADBC3-A04A-0774-4F68-2AB68F1B7406}"/>
              </a:ext>
            </a:extLst>
          </p:cNvPr>
          <p:cNvSpPr txBox="1"/>
          <p:nvPr/>
        </p:nvSpPr>
        <p:spPr>
          <a:xfrm>
            <a:off x="4495800" y="31623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6EEA18A-8599-CAFC-B3EC-5E8D95B0AEA7}"/>
              </a:ext>
            </a:extLst>
          </p:cNvPr>
          <p:cNvSpPr/>
          <p:nvPr/>
        </p:nvSpPr>
        <p:spPr>
          <a:xfrm>
            <a:off x="508000" y="35052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DF73D1-CD93-7D2A-A9CC-D3026FB919CB}"/>
              </a:ext>
            </a:extLst>
          </p:cNvPr>
          <p:cNvSpPr/>
          <p:nvPr/>
        </p:nvSpPr>
        <p:spPr>
          <a:xfrm>
            <a:off x="508000" y="35052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E15948-C440-2445-8D90-54AB9D94AF67}"/>
              </a:ext>
            </a:extLst>
          </p:cNvPr>
          <p:cNvSpPr txBox="1"/>
          <p:nvPr/>
        </p:nvSpPr>
        <p:spPr>
          <a:xfrm>
            <a:off x="635000" y="36957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Leader Note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EC73B6-C4CC-64C5-772B-0A7006D2F915}"/>
              </a:ext>
            </a:extLst>
          </p:cNvPr>
          <p:cNvSpPr txBox="1"/>
          <p:nvPr/>
        </p:nvSpPr>
        <p:spPr>
          <a:xfrm>
            <a:off x="635000" y="39751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EB914ED-EDB1-06B8-55DF-4DADACF60667}"/>
              </a:ext>
            </a:extLst>
          </p:cNvPr>
          <p:cNvSpPr/>
          <p:nvPr/>
        </p:nvSpPr>
        <p:spPr>
          <a:xfrm>
            <a:off x="2438400" y="35052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52A10B-D55F-934F-19D9-EC71C5DCD7AC}"/>
              </a:ext>
            </a:extLst>
          </p:cNvPr>
          <p:cNvSpPr/>
          <p:nvPr/>
        </p:nvSpPr>
        <p:spPr>
          <a:xfrm>
            <a:off x="2438400" y="35052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4892F7-2E61-0C42-2F85-FBDCB4637079}"/>
              </a:ext>
            </a:extLst>
          </p:cNvPr>
          <p:cNvSpPr txBox="1"/>
          <p:nvPr/>
        </p:nvSpPr>
        <p:spPr>
          <a:xfrm>
            <a:off x="2565400" y="36957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Text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CCA685-7591-C1E1-567D-1C720B63AB16}"/>
              </a:ext>
            </a:extLst>
          </p:cNvPr>
          <p:cNvSpPr txBox="1"/>
          <p:nvPr/>
        </p:nvSpPr>
        <p:spPr>
          <a:xfrm>
            <a:off x="2565400" y="39751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0ABB4B2-D966-88C1-F3C1-E23DA7F53E11}"/>
              </a:ext>
            </a:extLst>
          </p:cNvPr>
          <p:cNvSpPr/>
          <p:nvPr/>
        </p:nvSpPr>
        <p:spPr>
          <a:xfrm>
            <a:off x="4368800" y="3505200"/>
            <a:ext cx="1778000" cy="685800"/>
          </a:xfrm>
          <a:prstGeom prst="round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31616E-F06F-6BE2-827A-4103A9A67013}"/>
              </a:ext>
            </a:extLst>
          </p:cNvPr>
          <p:cNvSpPr/>
          <p:nvPr/>
        </p:nvSpPr>
        <p:spPr>
          <a:xfrm>
            <a:off x="4368800" y="3505200"/>
            <a:ext cx="63500" cy="685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70FF17-2B00-656B-17B2-BFA80E6CA9A5}"/>
              </a:ext>
            </a:extLst>
          </p:cNvPr>
          <p:cNvSpPr txBox="1"/>
          <p:nvPr/>
        </p:nvSpPr>
        <p:spPr>
          <a:xfrm>
            <a:off x="4495800" y="36957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Freehand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144482-52B1-FAAF-E63F-B1E74B1B2E9D}"/>
              </a:ext>
            </a:extLst>
          </p:cNvPr>
          <p:cNvSpPr txBox="1"/>
          <p:nvPr/>
        </p:nvSpPr>
        <p:spPr>
          <a:xfrm>
            <a:off x="4495800" y="39751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900">
                <a:solidFill>
                  <a:srgbClr val="646464"/>
                </a:solidFill>
                <a:latin typeface="Segoe UI" panose="020B0502040204020203" pitchFamily="34" charset="0"/>
              </a:rPr>
              <a:t>draw + screenshot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6679FD-BB9C-6281-A847-F70462A48293}"/>
              </a:ext>
            </a:extLst>
          </p:cNvPr>
          <p:cNvSpPr txBox="1"/>
          <p:nvPr/>
        </p:nvSpPr>
        <p:spPr>
          <a:xfrm>
            <a:off x="6858000" y="1333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 b="1">
                <a:solidFill>
                  <a:srgbClr val="16305C"/>
                </a:solidFill>
                <a:latin typeface="Segoe UI" panose="020B0502040204020203" pitchFamily="34" charset="0"/>
              </a:rPr>
              <a:t>Special Tests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C36881-3F95-19A2-D972-C4F807A89C53}"/>
              </a:ext>
            </a:extLst>
          </p:cNvPr>
          <p:cNvSpPr/>
          <p:nvPr/>
        </p:nvSpPr>
        <p:spPr>
          <a:xfrm>
            <a:off x="6858000" y="1727200"/>
            <a:ext cx="762000" cy="508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51E69D6-466C-321D-C2DE-A00B15D415A5}"/>
              </a:ext>
            </a:extLst>
          </p:cNvPr>
          <p:cNvSpPr/>
          <p:nvPr/>
        </p:nvSpPr>
        <p:spPr>
          <a:xfrm>
            <a:off x="6858000" y="1905000"/>
            <a:ext cx="4826000" cy="965200"/>
          </a:xfrm>
          <a:prstGeom prst="roundRect">
            <a:avLst/>
          </a:prstGeom>
          <a:solidFill>
            <a:srgbClr val="FFF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A59FD68-2CC1-360C-C7CD-156D9E012E3D}"/>
              </a:ext>
            </a:extLst>
          </p:cNvPr>
          <p:cNvSpPr/>
          <p:nvPr/>
        </p:nvSpPr>
        <p:spPr>
          <a:xfrm>
            <a:off x="6858000" y="1905000"/>
            <a:ext cx="63500" cy="9652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FD0228-6BDF-EA9D-6813-A2C572302925}"/>
              </a:ext>
            </a:extLst>
          </p:cNvPr>
          <p:cNvSpPr txBox="1"/>
          <p:nvPr/>
        </p:nvSpPr>
        <p:spPr>
          <a:xfrm>
            <a:off x="7010400" y="19812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Full Annotations Workflow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6CEA2D-B646-8F9A-3A31-22A7026208CF}"/>
              </a:ext>
            </a:extLst>
          </p:cNvPr>
          <p:cNvSpPr txBox="1"/>
          <p:nvPr/>
        </p:nvSpPr>
        <p:spPr>
          <a:xfrm>
            <a:off x="7010400" y="22606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Single comprehensive test: all tools in sequence, verifies combined screenshot at Low and High quality.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083A359-93B3-AB6D-6CDF-C8D0FA9203F7}"/>
              </a:ext>
            </a:extLst>
          </p:cNvPr>
          <p:cNvSpPr/>
          <p:nvPr/>
        </p:nvSpPr>
        <p:spPr>
          <a:xfrm>
            <a:off x="6858000" y="2971800"/>
            <a:ext cx="4826000" cy="965200"/>
          </a:xfrm>
          <a:prstGeom prst="roundRect">
            <a:avLst/>
          </a:prstGeom>
          <a:solidFill>
            <a:srgbClr val="FFF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49CFB2F-6E5F-B8DD-0DB7-6FE17F09E1B1}"/>
              </a:ext>
            </a:extLst>
          </p:cNvPr>
          <p:cNvSpPr/>
          <p:nvPr/>
        </p:nvSpPr>
        <p:spPr>
          <a:xfrm>
            <a:off x="6858000" y="2971800"/>
            <a:ext cx="63500" cy="9652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D0CCE4-66CF-1158-CBC6-931B5E069707}"/>
              </a:ext>
            </a:extLst>
          </p:cNvPr>
          <p:cNvSpPr txBox="1"/>
          <p:nvPr/>
        </p:nvSpPr>
        <p:spPr>
          <a:xfrm>
            <a:off x="7010400" y="30480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Environment Readiness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790BFD-8673-9C6D-BAF3-0D22B29CBC6A}"/>
              </a:ext>
            </a:extLst>
          </p:cNvPr>
          <p:cNvSpPr txBox="1"/>
          <p:nvPr/>
        </p:nvSpPr>
        <p:spPr>
          <a:xfrm>
            <a:off x="7010400" y="33274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100">
                <a:solidFill>
                  <a:srgbClr val="1F3864"/>
                </a:solidFill>
                <a:latin typeface="Segoe UI" panose="020B0502040204020203" pitchFamily="34" charset="0"/>
              </a:rPr>
              <a:t>Validates WebGL availability, DPR=2, viewport dimensions, and rules out SwiftShader software renderer.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A1FFDE7-C7E7-4656-5AFE-7D89343F411D}"/>
              </a:ext>
            </a:extLst>
          </p:cNvPr>
          <p:cNvSpPr/>
          <p:nvPr/>
        </p:nvSpPr>
        <p:spPr>
          <a:xfrm>
            <a:off x="6858000" y="4038600"/>
            <a:ext cx="4826000" cy="965200"/>
          </a:xfrm>
          <a:prstGeom prst="roundRect">
            <a:avLst/>
          </a:prstGeom>
          <a:solidFill>
            <a:srgbClr val="FFF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09D63E-0948-D17D-C4FB-A2ED85E78FF0}"/>
              </a:ext>
            </a:extLst>
          </p:cNvPr>
          <p:cNvSpPr/>
          <p:nvPr/>
        </p:nvSpPr>
        <p:spPr>
          <a:xfrm>
            <a:off x="6858000" y="4038600"/>
            <a:ext cx="63500" cy="9652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971FA8-0FA4-DF80-6797-8D4E089833EE}"/>
              </a:ext>
            </a:extLst>
          </p:cNvPr>
          <p:cNvSpPr txBox="1"/>
          <p:nvPr/>
        </p:nvSpPr>
        <p:spPr>
          <a:xfrm>
            <a:off x="7010400" y="41148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Export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7500FC-9BC9-C85C-EF00-D82EF24F9D76}"/>
              </a:ext>
            </a:extLst>
          </p:cNvPr>
          <p:cNvSpPr txBox="1"/>
          <p:nvPr/>
        </p:nvSpPr>
        <p:spPr>
          <a:xfrm>
            <a:off x="7010400" y="43942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Draws all annotation types, captures screenshot, then exports JSON file. Run only in --update-snapshots mode.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9872920-0AD6-82D9-B67E-FCA4590CE6A8}"/>
              </a:ext>
            </a:extLst>
          </p:cNvPr>
          <p:cNvSpPr/>
          <p:nvPr/>
        </p:nvSpPr>
        <p:spPr>
          <a:xfrm>
            <a:off x="6858000" y="5105400"/>
            <a:ext cx="4826000" cy="965200"/>
          </a:xfrm>
          <a:prstGeom prst="roundRect">
            <a:avLst/>
          </a:prstGeom>
          <a:solidFill>
            <a:srgbClr val="FFF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62003D2-A090-026B-654D-828123D304A9}"/>
              </a:ext>
            </a:extLst>
          </p:cNvPr>
          <p:cNvSpPr/>
          <p:nvPr/>
        </p:nvSpPr>
        <p:spPr>
          <a:xfrm>
            <a:off x="6858000" y="5105400"/>
            <a:ext cx="63500" cy="9652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BEC5A5-13A7-E1B7-8998-D8F678C2E5C6}"/>
              </a:ext>
            </a:extLst>
          </p:cNvPr>
          <p:cNvSpPr txBox="1"/>
          <p:nvPr/>
        </p:nvSpPr>
        <p:spPr>
          <a:xfrm>
            <a:off x="7010400" y="51816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Import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C7B4F1-670B-3122-B171-7618B6F1881C}"/>
              </a:ext>
            </a:extLst>
          </p:cNvPr>
          <p:cNvSpPr txBox="1"/>
          <p:nvPr/>
        </p:nvSpPr>
        <p:spPr>
          <a:xfrm>
            <a:off x="7010400" y="54610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Loads exported JSON file, verifies annotations match the export snapshot, then clears all.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01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93D24F-93BF-A9F9-EE2D-DB8CE0EF45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7F3644-9660-E9A5-1148-A9789D5FE894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62D21E-288A-E47B-5C85-91C3A2A93452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1457C1-30FF-6A70-1DBA-92CF4B60B283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Visual Regression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21C77-C113-DA61-11F6-ABDD4049A0F9}"/>
              </a:ext>
            </a:extLst>
          </p:cNvPr>
          <p:cNvSpPr txBox="1"/>
          <p:nvPr/>
        </p:nvSpPr>
        <p:spPr>
          <a:xfrm>
            <a:off x="508000" y="13462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 b="1">
                <a:solidFill>
                  <a:srgbClr val="16305C"/>
                </a:solidFill>
                <a:latin typeface="Segoe UI" panose="020B0502040204020203" pitchFamily="34" charset="0"/>
              </a:rPr>
              <a:t>How It Works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8598EB-CBEF-016E-9AB1-1616041F6EAA}"/>
              </a:ext>
            </a:extLst>
          </p:cNvPr>
          <p:cNvSpPr/>
          <p:nvPr/>
        </p:nvSpPr>
        <p:spPr>
          <a:xfrm>
            <a:off x="533400" y="1752600"/>
            <a:ext cx="330200" cy="3302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E0074B-0E38-6E8B-6D63-B25221AB978C}"/>
              </a:ext>
            </a:extLst>
          </p:cNvPr>
          <p:cNvSpPr txBox="1"/>
          <p:nvPr/>
        </p:nvSpPr>
        <p:spPr>
          <a:xfrm>
            <a:off x="533400" y="18034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38782-3327-7E26-F8A1-F5DF622BB342}"/>
              </a:ext>
            </a:extLst>
          </p:cNvPr>
          <p:cNvSpPr txBox="1"/>
          <p:nvPr/>
        </p:nvSpPr>
        <p:spPr>
          <a:xfrm>
            <a:off x="990600" y="18034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Test reaches a known stable UI state (model loaded, panels closed, spinner hidden)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B2AFF7-118F-954D-EA17-202980B2F5F3}"/>
              </a:ext>
            </a:extLst>
          </p:cNvPr>
          <p:cNvSpPr/>
          <p:nvPr/>
        </p:nvSpPr>
        <p:spPr>
          <a:xfrm>
            <a:off x="533400" y="2235200"/>
            <a:ext cx="330200" cy="3302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D3A7-D8BC-B8CA-32DE-206784A2CC69}"/>
              </a:ext>
            </a:extLst>
          </p:cNvPr>
          <p:cNvSpPr txBox="1"/>
          <p:nvPr/>
        </p:nvSpPr>
        <p:spPr>
          <a:xfrm>
            <a:off x="533400" y="22860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A4787-5952-AB34-1B26-DE05D99BA639}"/>
              </a:ext>
            </a:extLst>
          </p:cNvPr>
          <p:cNvSpPr txBox="1"/>
          <p:nvPr/>
        </p:nvSpPr>
        <p:spPr>
          <a:xfrm>
            <a:off x="990600" y="22860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verifyViewerScreenshot(page, 'name') captures the 3D canvas element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329229-A2DA-5F72-09B8-F6B3F5BDF09E}"/>
              </a:ext>
            </a:extLst>
          </p:cNvPr>
          <p:cNvSpPr/>
          <p:nvPr/>
        </p:nvSpPr>
        <p:spPr>
          <a:xfrm>
            <a:off x="533400" y="2717800"/>
            <a:ext cx="330200" cy="3302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1EAF1F-7F8B-2CF1-CBB5-710DCB7CA91E}"/>
              </a:ext>
            </a:extLst>
          </p:cNvPr>
          <p:cNvSpPr txBox="1"/>
          <p:nvPr/>
        </p:nvSpPr>
        <p:spPr>
          <a:xfrm>
            <a:off x="533400" y="27686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2CC3FD-3437-0D7A-1C4F-7182EB1E97FE}"/>
              </a:ext>
            </a:extLst>
          </p:cNvPr>
          <p:cNvSpPr txBox="1"/>
          <p:nvPr/>
        </p:nvSpPr>
        <p:spPr>
          <a:xfrm>
            <a:off x="990600" y="27686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Playwright diffs against baseline PNG stored in tests/snapshots/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B63D48-1359-1838-9CDA-F256F4D4CF5D}"/>
              </a:ext>
            </a:extLst>
          </p:cNvPr>
          <p:cNvSpPr/>
          <p:nvPr/>
        </p:nvSpPr>
        <p:spPr>
          <a:xfrm>
            <a:off x="533400" y="3200400"/>
            <a:ext cx="330200" cy="3302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E3AC3F-E908-56B9-2EF8-1FA174A09B7A}"/>
              </a:ext>
            </a:extLst>
          </p:cNvPr>
          <p:cNvSpPr txBox="1"/>
          <p:nvPr/>
        </p:nvSpPr>
        <p:spPr>
          <a:xfrm>
            <a:off x="533400" y="32512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9E1AA4-6BBF-1646-DFE1-88A509E85679}"/>
              </a:ext>
            </a:extLst>
          </p:cNvPr>
          <p:cNvSpPr txBox="1"/>
          <p:nvPr/>
        </p:nvSpPr>
        <p:spPr>
          <a:xfrm>
            <a:off x="990600" y="32512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Fail if pixel difference exceeds maxDiffPixelRatio (0.02 = 2% tolerance)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EB7623-0910-D685-284E-37D7EFF4D9BE}"/>
              </a:ext>
            </a:extLst>
          </p:cNvPr>
          <p:cNvSpPr/>
          <p:nvPr/>
        </p:nvSpPr>
        <p:spPr>
          <a:xfrm>
            <a:off x="533400" y="3683000"/>
            <a:ext cx="330200" cy="3302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E5F51F-7EA2-F960-09A6-812E172B3955}"/>
              </a:ext>
            </a:extLst>
          </p:cNvPr>
          <p:cNvSpPr txBox="1"/>
          <p:nvPr/>
        </p:nvSpPr>
        <p:spPr>
          <a:xfrm>
            <a:off x="533400" y="3733800"/>
            <a:ext cx="33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A2EAB-A9E7-E0CD-2558-38A3D194213C}"/>
              </a:ext>
            </a:extLst>
          </p:cNvPr>
          <p:cNvSpPr txBox="1"/>
          <p:nvPr/>
        </p:nvSpPr>
        <p:spPr>
          <a:xfrm>
            <a:off x="990600" y="37338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F3864"/>
                </a:solidFill>
                <a:latin typeface="Segoe UI" panose="020B0502040204020203" pitchFamily="34" charset="0"/>
              </a:rPr>
              <a:t>Run --update-snapshots to intentionally update baselines after approved changes</a:t>
            </a:r>
            <a:endParaRPr lang="en-IN" sz="12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B5F2B9-9FB6-810F-45DD-926B892CB3B4}"/>
              </a:ext>
            </a:extLst>
          </p:cNvPr>
          <p:cNvSpPr/>
          <p:nvPr/>
        </p:nvSpPr>
        <p:spPr>
          <a:xfrm>
            <a:off x="6223000" y="1333500"/>
            <a:ext cx="5588000" cy="4953000"/>
          </a:xfrm>
          <a:prstGeom prst="rect">
            <a:avLst/>
          </a:prstGeom>
          <a:solidFill>
            <a:srgbClr val="DEE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8EBCF3-2963-6E49-777C-ACDCB652610F}"/>
              </a:ext>
            </a:extLst>
          </p:cNvPr>
          <p:cNvSpPr/>
          <p:nvPr/>
        </p:nvSpPr>
        <p:spPr>
          <a:xfrm>
            <a:off x="6223000" y="1333500"/>
            <a:ext cx="5588000" cy="762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552F94-A97D-639C-8E55-B799869D5175}"/>
              </a:ext>
            </a:extLst>
          </p:cNvPr>
          <p:cNvSpPr txBox="1"/>
          <p:nvPr/>
        </p:nvSpPr>
        <p:spPr>
          <a:xfrm>
            <a:off x="6350000" y="14986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600" b="1">
                <a:solidFill>
                  <a:srgbClr val="16305C"/>
                </a:solidFill>
                <a:latin typeface="Segoe UI" panose="020B0502040204020203" pitchFamily="34" charset="0"/>
              </a:rPr>
              <a:t>Snapshot Counts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61090E-6D21-4267-7880-829E84C2F185}"/>
              </a:ext>
            </a:extLst>
          </p:cNvPr>
          <p:cNvSpPr/>
          <p:nvPr/>
        </p:nvSpPr>
        <p:spPr>
          <a:xfrm>
            <a:off x="6350000" y="1930400"/>
            <a:ext cx="5334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3EA045-20F0-A63B-061B-129AAA8ECE47}"/>
              </a:ext>
            </a:extLst>
          </p:cNvPr>
          <p:cNvSpPr txBox="1"/>
          <p:nvPr/>
        </p:nvSpPr>
        <p:spPr>
          <a:xfrm>
            <a:off x="6477000" y="2006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annotations.spec.js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28BFC8-F7EA-8EC7-8358-F56CE737D766}"/>
              </a:ext>
            </a:extLst>
          </p:cNvPr>
          <p:cNvSpPr txBox="1"/>
          <p:nvPr/>
        </p:nvSpPr>
        <p:spPr>
          <a:xfrm>
            <a:off x="6477000" y="2260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4 (Low + High × 2 modes)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BB538B-3022-93EF-DB3E-2D0B01C14E65}"/>
              </a:ext>
            </a:extLst>
          </p:cNvPr>
          <p:cNvSpPr/>
          <p:nvPr/>
        </p:nvSpPr>
        <p:spPr>
          <a:xfrm>
            <a:off x="6350000" y="2667000"/>
            <a:ext cx="5334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582C5A-B453-A490-465D-FDFA740DB528}"/>
              </a:ext>
            </a:extLst>
          </p:cNvPr>
          <p:cNvSpPr txBox="1"/>
          <p:nvPr/>
        </p:nvSpPr>
        <p:spPr>
          <a:xfrm>
            <a:off x="6477000" y="27432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modelComposer.spec.js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004A43-3F1D-C8A4-ED4F-C4F043AC5043}"/>
              </a:ext>
            </a:extLst>
          </p:cNvPr>
          <p:cNvSpPr txBox="1"/>
          <p:nvPr/>
        </p:nvSpPr>
        <p:spPr>
          <a:xfrm>
            <a:off x="6477000" y="29972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100">
                <a:solidFill>
                  <a:srgbClr val="1F3864"/>
                </a:solidFill>
                <a:latin typeface="Segoe UI" panose="020B0502040204020203" pitchFamily="34" charset="0"/>
              </a:rPr>
              <a:t>30 (per discipline + quality)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BD9746-1E4C-185A-0068-E6F7AE8EB012}"/>
              </a:ext>
            </a:extLst>
          </p:cNvPr>
          <p:cNvSpPr/>
          <p:nvPr/>
        </p:nvSpPr>
        <p:spPr>
          <a:xfrm>
            <a:off x="6350000" y="3403600"/>
            <a:ext cx="5334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159AC7-8246-5A76-8D6A-FD205FBA4125}"/>
              </a:ext>
            </a:extLst>
          </p:cNvPr>
          <p:cNvSpPr txBox="1"/>
          <p:nvPr/>
        </p:nvSpPr>
        <p:spPr>
          <a:xfrm>
            <a:off x="6477000" y="3479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modelSelection.spec.js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2E2E4A-01D7-2D53-61CC-4672ADEA3E01}"/>
              </a:ext>
            </a:extLst>
          </p:cNvPr>
          <p:cNvSpPr txBox="1"/>
          <p:nvPr/>
        </p:nvSpPr>
        <p:spPr>
          <a:xfrm>
            <a:off x="6477000" y="3733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5 (glass, shaded, bookmark, refresh)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C8448F-19CC-A9EB-B02A-5515BC83B73E}"/>
              </a:ext>
            </a:extLst>
          </p:cNvPr>
          <p:cNvSpPr/>
          <p:nvPr/>
        </p:nvSpPr>
        <p:spPr>
          <a:xfrm>
            <a:off x="6350000" y="4140200"/>
            <a:ext cx="5334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E43F44-9004-AB6F-99C9-BBE78001CA18}"/>
              </a:ext>
            </a:extLst>
          </p:cNvPr>
          <p:cNvSpPr txBox="1"/>
          <p:nvPr/>
        </p:nvSpPr>
        <p:spPr>
          <a:xfrm>
            <a:off x="6477000" y="42164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 b="1">
                <a:solidFill>
                  <a:srgbClr val="16305C"/>
                </a:solidFill>
                <a:latin typeface="Segoe UI" panose="020B0502040204020203" pitchFamily="34" charset="0"/>
              </a:rPr>
              <a:t>viewerToolbar.spec.js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1B049C-402D-54F1-F3C3-6220535EB3A9}"/>
              </a:ext>
            </a:extLst>
          </p:cNvPr>
          <p:cNvSpPr txBox="1"/>
          <p:nvPr/>
        </p:nvSpPr>
        <p:spPr>
          <a:xfrm>
            <a:off x="6477000" y="44704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60+ (cutting plane positions, views)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7B0D45-A806-2D7A-A25D-A7954D7141CE}"/>
              </a:ext>
            </a:extLst>
          </p:cNvPr>
          <p:cNvSpPr txBox="1"/>
          <p:nvPr/>
        </p:nvSpPr>
        <p:spPr>
          <a:xfrm>
            <a:off x="6350000" y="50038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i="1">
                <a:solidFill>
                  <a:srgbClr val="646464"/>
                </a:solidFill>
                <a:latin typeface="Segoe UI" panose="020B0502040204020203" pitchFamily="34" charset="0"/>
              </a:rPr>
              <a:t>Note: Baselines are per-browser (chromium) and OS, ensuring deterministic pixel output regardless of CI runner.</a:t>
            </a:r>
            <a:endParaRPr lang="en-IN" sz="1100" i="1">
              <a:solidFill>
                <a:srgbClr val="646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348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A9B72E-CB75-9495-F7A6-379D86FBEF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7B4C12-EC89-E063-7E0A-2104128924A9}"/>
              </a:ext>
            </a:extLst>
          </p:cNvPr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50708D-F146-B0A4-B253-2F540A477A87}"/>
              </a:ext>
            </a:extLst>
          </p:cNvPr>
          <p:cNvSpPr/>
          <p:nvPr/>
        </p:nvSpPr>
        <p:spPr>
          <a:xfrm>
            <a:off x="0" y="11176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09EBB-3AB7-23EF-E0F2-4279A75DEB4B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Test Execution &amp; CI Integration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2D3D6-F767-0015-1AAA-F5228DAB2246}"/>
              </a:ext>
            </a:extLst>
          </p:cNvPr>
          <p:cNvSpPr/>
          <p:nvPr/>
        </p:nvSpPr>
        <p:spPr>
          <a:xfrm>
            <a:off x="381000" y="1333500"/>
            <a:ext cx="5588000" cy="50800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007B2-1498-1F9E-CB1A-6DADAFCE991A}"/>
              </a:ext>
            </a:extLst>
          </p:cNvPr>
          <p:cNvSpPr txBox="1"/>
          <p:nvPr/>
        </p:nvSpPr>
        <p:spPr>
          <a:xfrm>
            <a:off x="508000" y="14605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6A9955"/>
                </a:solidFill>
                <a:latin typeface="Segoe UI" panose="020B0502040204020203" pitchFamily="34" charset="0"/>
              </a:rPr>
              <a:t># Run all 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1FCA72-58E0-73D3-7919-1C061E3136ED}"/>
              </a:ext>
            </a:extLst>
          </p:cNvPr>
          <p:cNvSpPr txBox="1"/>
          <p:nvPr/>
        </p:nvSpPr>
        <p:spPr>
          <a:xfrm>
            <a:off x="508000" y="1676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DCDCAA"/>
                </a:solidFill>
                <a:latin typeface="Segoe UI" panose="020B0502040204020203" pitchFamily="34" charset="0"/>
              </a:rPr>
              <a:t>npx playwright test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1E43C-F079-5188-2CF6-F3EA5544C428}"/>
              </a:ext>
            </a:extLst>
          </p:cNvPr>
          <p:cNvSpPr txBox="1"/>
          <p:nvPr/>
        </p:nvSpPr>
        <p:spPr>
          <a:xfrm>
            <a:off x="508000" y="2057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6A9955"/>
                </a:solidFill>
                <a:latin typeface="Segoe UI" panose="020B0502040204020203" pitchFamily="34" charset="0"/>
              </a:rPr>
              <a:t># Run single spec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9E61C-62B7-6260-0DC7-F0174A0861C9}"/>
              </a:ext>
            </a:extLst>
          </p:cNvPr>
          <p:cNvSpPr txBox="1"/>
          <p:nvPr/>
        </p:nvSpPr>
        <p:spPr>
          <a:xfrm>
            <a:off x="508000" y="22606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DCDCAA"/>
                </a:solidFill>
                <a:latin typeface="Segoe UI" panose="020B0502040204020203" pitchFamily="34" charset="0"/>
              </a:rPr>
              <a:t>npx playwright test annotations.spec.js</a:t>
            </a:r>
            <a:endParaRPr lang="en-IN" sz="1200">
              <a:solidFill>
                <a:srgbClr val="DCDCA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6F172A-0F95-73DC-BA23-5643FC9BBBBE}"/>
              </a:ext>
            </a:extLst>
          </p:cNvPr>
          <p:cNvSpPr txBox="1"/>
          <p:nvPr/>
        </p:nvSpPr>
        <p:spPr>
          <a:xfrm>
            <a:off x="508000" y="2667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6A9955"/>
                </a:solidFill>
                <a:latin typeface="Segoe UI" panose="020B0502040204020203" pitchFamily="34" charset="0"/>
              </a:rPr>
              <a:t># Update visual baselines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8AEE9-796D-C920-1326-4E732F334319}"/>
              </a:ext>
            </a:extLst>
          </p:cNvPr>
          <p:cNvSpPr txBox="1"/>
          <p:nvPr/>
        </p:nvSpPr>
        <p:spPr>
          <a:xfrm>
            <a:off x="508000" y="28702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DCDCAA"/>
                </a:solidFill>
                <a:latin typeface="Segoe UI" panose="020B0502040204020203" pitchFamily="34" charset="0"/>
              </a:rPr>
              <a:t>npx playwright test --update-snapshots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FDA710-AB3B-7906-67FB-9168FBE41837}"/>
              </a:ext>
            </a:extLst>
          </p:cNvPr>
          <p:cNvSpPr txBox="1"/>
          <p:nvPr/>
        </p:nvSpPr>
        <p:spPr>
          <a:xfrm>
            <a:off x="508000" y="32766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000">
                <a:solidFill>
                  <a:srgbClr val="6A9955"/>
                </a:solidFill>
                <a:latin typeface="Segoe UI" panose="020B0502040204020203" pitchFamily="34" charset="0"/>
              </a:rPr>
              <a:t># Run against different env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8D946F-C31E-9368-5B5B-89E2C85304C7}"/>
              </a:ext>
            </a:extLst>
          </p:cNvPr>
          <p:cNvSpPr txBox="1"/>
          <p:nvPr/>
        </p:nvSpPr>
        <p:spPr>
          <a:xfrm>
            <a:off x="508000" y="34798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DCDCAA"/>
                </a:solidFill>
                <a:latin typeface="Segoe UI" panose="020B0502040204020203" pitchFamily="34" charset="0"/>
              </a:rPr>
              <a:t>BASE_URL=https://qa2-app... npx playwright test</a:t>
            </a:r>
            <a:endParaRPr lang="en-IN" sz="1200">
              <a:solidFill>
                <a:srgbClr val="DCDCA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6833A-8F70-AA06-EB18-452A35226B73}"/>
              </a:ext>
            </a:extLst>
          </p:cNvPr>
          <p:cNvSpPr txBox="1"/>
          <p:nvPr/>
        </p:nvSpPr>
        <p:spPr>
          <a:xfrm>
            <a:off x="508000" y="38862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A9955"/>
                </a:solidFill>
                <a:latin typeface="Segoe UI" panose="020B0502040204020203" pitchFamily="34" charset="0"/>
              </a:rPr>
              <a:t># Export results to Xray/Jira</a:t>
            </a:r>
            <a:endParaRPr lang="en-IN" sz="1000">
              <a:solidFill>
                <a:srgbClr val="6A9955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6632F8-3098-30DC-8481-E824DC6A9BFF}"/>
              </a:ext>
            </a:extLst>
          </p:cNvPr>
          <p:cNvSpPr txBox="1"/>
          <p:nvPr/>
        </p:nvSpPr>
        <p:spPr>
          <a:xfrm>
            <a:off x="508000" y="40894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DCDCAA"/>
                </a:solidFill>
                <a:latin typeface="Segoe UI" panose="020B0502040204020203" pitchFamily="34" charset="0"/>
              </a:rPr>
              <a:t>npx playwright test --reporter=junit</a:t>
            </a:r>
            <a:endParaRPr lang="en-IN" sz="1200">
              <a:solidFill>
                <a:srgbClr val="DCDCA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4CC0C-311C-949D-D18B-90DDF030BC08}"/>
              </a:ext>
            </a:extLst>
          </p:cNvPr>
          <p:cNvSpPr txBox="1"/>
          <p:nvPr/>
        </p:nvSpPr>
        <p:spPr>
          <a:xfrm>
            <a:off x="6350000" y="13335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 b="1">
                <a:solidFill>
                  <a:srgbClr val="16305C"/>
                </a:solidFill>
                <a:latin typeface="Segoe UI" panose="020B0502040204020203" pitchFamily="34" charset="0"/>
              </a:rPr>
              <a:t>CI Pipeline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A3226B-3615-9BCA-3981-61F4FDF15888}"/>
              </a:ext>
            </a:extLst>
          </p:cNvPr>
          <p:cNvSpPr/>
          <p:nvPr/>
        </p:nvSpPr>
        <p:spPr>
          <a:xfrm>
            <a:off x="6350000" y="1727200"/>
            <a:ext cx="762000" cy="50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726326-310A-45E1-6018-E6E63BC3B20B}"/>
              </a:ext>
            </a:extLst>
          </p:cNvPr>
          <p:cNvSpPr/>
          <p:nvPr/>
        </p:nvSpPr>
        <p:spPr>
          <a:xfrm>
            <a:off x="6375400" y="1879600"/>
            <a:ext cx="406400" cy="406400"/>
          </a:xfrm>
          <a:prstGeom prst="ellipse">
            <a:avLst/>
          </a:prstGeom>
          <a:solidFill>
            <a:srgbClr val="16305C"/>
          </a:solidFill>
          <a:ln w="254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9EA86A-4E5D-9AEB-0936-C00EBB0865B5}"/>
              </a:ext>
            </a:extLst>
          </p:cNvPr>
          <p:cNvSpPr txBox="1"/>
          <p:nvPr/>
        </p:nvSpPr>
        <p:spPr>
          <a:xfrm>
            <a:off x="6375400" y="1981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6347A5-5C42-CB67-B70A-110FCAF83431}"/>
              </a:ext>
            </a:extLst>
          </p:cNvPr>
          <p:cNvSpPr txBox="1"/>
          <p:nvPr/>
        </p:nvSpPr>
        <p:spPr>
          <a:xfrm>
            <a:off x="6908800" y="1879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Trigger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0B1CE0-93FA-E1A4-E712-CAEADB3DF94F}"/>
              </a:ext>
            </a:extLst>
          </p:cNvPr>
          <p:cNvSpPr txBox="1"/>
          <p:nvPr/>
        </p:nvSpPr>
        <p:spPr>
          <a:xfrm>
            <a:off x="6908800" y="20828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PR merged or scheduled nightly run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A7917E-3C68-8DF7-CB3F-7783AAF3426F}"/>
              </a:ext>
            </a:extLst>
          </p:cNvPr>
          <p:cNvCxnSpPr/>
          <p:nvPr/>
        </p:nvCxnSpPr>
        <p:spPr>
          <a:xfrm>
            <a:off x="6578600" y="2286000"/>
            <a:ext cx="0" cy="15240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95CFD39-BCB6-5463-F03F-9E3592C798E2}"/>
              </a:ext>
            </a:extLst>
          </p:cNvPr>
          <p:cNvSpPr/>
          <p:nvPr/>
        </p:nvSpPr>
        <p:spPr>
          <a:xfrm>
            <a:off x="6375400" y="2540000"/>
            <a:ext cx="406400" cy="406400"/>
          </a:xfrm>
          <a:prstGeom prst="ellipse">
            <a:avLst/>
          </a:prstGeom>
          <a:solidFill>
            <a:srgbClr val="16305C"/>
          </a:solidFill>
          <a:ln w="254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BF4061-1C51-D8EA-E2FC-837A8142A114}"/>
              </a:ext>
            </a:extLst>
          </p:cNvPr>
          <p:cNvSpPr txBox="1"/>
          <p:nvPr/>
        </p:nvSpPr>
        <p:spPr>
          <a:xfrm>
            <a:off x="6375400" y="26416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3DCE2C-DD89-69E1-7B44-E3D0D3D1B2D2}"/>
              </a:ext>
            </a:extLst>
          </p:cNvPr>
          <p:cNvSpPr txBox="1"/>
          <p:nvPr/>
        </p:nvSpPr>
        <p:spPr>
          <a:xfrm>
            <a:off x="6908800" y="25400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Install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10FC25-D955-0D15-5BE7-8B3C87C710AE}"/>
              </a:ext>
            </a:extLst>
          </p:cNvPr>
          <p:cNvSpPr txBox="1"/>
          <p:nvPr/>
        </p:nvSpPr>
        <p:spPr>
          <a:xfrm>
            <a:off x="6908800" y="27432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npm ci — installs Playwright + Chromium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F55458-1641-AEAF-BB4E-0440550E4902}"/>
              </a:ext>
            </a:extLst>
          </p:cNvPr>
          <p:cNvCxnSpPr/>
          <p:nvPr/>
        </p:nvCxnSpPr>
        <p:spPr>
          <a:xfrm>
            <a:off x="6578600" y="2946400"/>
            <a:ext cx="0" cy="15240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A8081D1-638D-3692-A924-F06CCA874380}"/>
              </a:ext>
            </a:extLst>
          </p:cNvPr>
          <p:cNvSpPr/>
          <p:nvPr/>
        </p:nvSpPr>
        <p:spPr>
          <a:xfrm>
            <a:off x="6375400" y="3200400"/>
            <a:ext cx="406400" cy="406400"/>
          </a:xfrm>
          <a:prstGeom prst="ellipse">
            <a:avLst/>
          </a:prstGeom>
          <a:solidFill>
            <a:srgbClr val="16305C"/>
          </a:solidFill>
          <a:ln w="254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A189A4-5E8B-3655-1A30-E8D4A48CC5D3}"/>
              </a:ext>
            </a:extLst>
          </p:cNvPr>
          <p:cNvSpPr txBox="1"/>
          <p:nvPr/>
        </p:nvSpPr>
        <p:spPr>
          <a:xfrm>
            <a:off x="6375400" y="33020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1F000-A241-BEF0-CCE8-A4EEF283AC99}"/>
              </a:ext>
            </a:extLst>
          </p:cNvPr>
          <p:cNvSpPr txBox="1"/>
          <p:nvPr/>
        </p:nvSpPr>
        <p:spPr>
          <a:xfrm>
            <a:off x="6908800" y="32004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Test Run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BB784-267F-E69A-4109-DF5EC85BF692}"/>
              </a:ext>
            </a:extLst>
          </p:cNvPr>
          <p:cNvSpPr txBox="1"/>
          <p:nvPr/>
        </p:nvSpPr>
        <p:spPr>
          <a:xfrm>
            <a:off x="6908800" y="34036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npx playwright test — all 54 cases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7BEEEE5-697C-8B62-1AAA-48D2920891F1}"/>
              </a:ext>
            </a:extLst>
          </p:cNvPr>
          <p:cNvCxnSpPr/>
          <p:nvPr/>
        </p:nvCxnSpPr>
        <p:spPr>
          <a:xfrm>
            <a:off x="6578600" y="3606800"/>
            <a:ext cx="0" cy="15240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3189ED7-EAE4-5D56-68BC-D720050A4278}"/>
              </a:ext>
            </a:extLst>
          </p:cNvPr>
          <p:cNvSpPr/>
          <p:nvPr/>
        </p:nvSpPr>
        <p:spPr>
          <a:xfrm>
            <a:off x="6375400" y="3860800"/>
            <a:ext cx="406400" cy="406400"/>
          </a:xfrm>
          <a:prstGeom prst="ellipse">
            <a:avLst/>
          </a:prstGeom>
          <a:solidFill>
            <a:srgbClr val="16305C"/>
          </a:solidFill>
          <a:ln w="254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0AD858-8897-CB47-11B9-90365634D47E}"/>
              </a:ext>
            </a:extLst>
          </p:cNvPr>
          <p:cNvSpPr txBox="1"/>
          <p:nvPr/>
        </p:nvSpPr>
        <p:spPr>
          <a:xfrm>
            <a:off x="6375400" y="3962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D74BD1-108D-82AD-82CE-CA012674438F}"/>
              </a:ext>
            </a:extLst>
          </p:cNvPr>
          <p:cNvSpPr txBox="1"/>
          <p:nvPr/>
        </p:nvSpPr>
        <p:spPr>
          <a:xfrm>
            <a:off x="6908800" y="3860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Report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AB1E73-F998-74AE-29BF-7F2418FD1188}"/>
              </a:ext>
            </a:extLst>
          </p:cNvPr>
          <p:cNvSpPr txBox="1"/>
          <p:nvPr/>
        </p:nvSpPr>
        <p:spPr>
          <a:xfrm>
            <a:off x="6908800" y="40640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100">
                <a:solidFill>
                  <a:srgbClr val="1F3864"/>
                </a:solidFill>
                <a:latin typeface="Segoe UI" panose="020B0502040204020203" pitchFamily="34" charset="0"/>
              </a:rPr>
              <a:t>JUnit XML generated automatically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38BEAD-D579-D835-060B-987CFC5FA970}"/>
              </a:ext>
            </a:extLst>
          </p:cNvPr>
          <p:cNvCxnSpPr/>
          <p:nvPr/>
        </p:nvCxnSpPr>
        <p:spPr>
          <a:xfrm>
            <a:off x="6578600" y="4267200"/>
            <a:ext cx="0" cy="15240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E32DE2B8-2D5F-37AE-7BC9-20D0DDD8D76F}"/>
              </a:ext>
            </a:extLst>
          </p:cNvPr>
          <p:cNvSpPr/>
          <p:nvPr/>
        </p:nvSpPr>
        <p:spPr>
          <a:xfrm>
            <a:off x="6375400" y="4521200"/>
            <a:ext cx="406400" cy="406400"/>
          </a:xfrm>
          <a:prstGeom prst="ellipse">
            <a:avLst/>
          </a:prstGeom>
          <a:solidFill>
            <a:srgbClr val="16305C"/>
          </a:solidFill>
          <a:ln w="254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4A4441-3BF2-EAC5-780D-5CA26F995F8A}"/>
              </a:ext>
            </a:extLst>
          </p:cNvPr>
          <p:cNvSpPr txBox="1"/>
          <p:nvPr/>
        </p:nvSpPr>
        <p:spPr>
          <a:xfrm>
            <a:off x="6375400" y="46228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B49736-E3EC-0AE7-19D4-46D6056919CF}"/>
              </a:ext>
            </a:extLst>
          </p:cNvPr>
          <p:cNvSpPr txBox="1"/>
          <p:nvPr/>
        </p:nvSpPr>
        <p:spPr>
          <a:xfrm>
            <a:off x="6908800" y="45212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Xray Upload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D6D825-763A-2E7A-D5E0-F21E8384A1A3}"/>
              </a:ext>
            </a:extLst>
          </p:cNvPr>
          <p:cNvSpPr txBox="1"/>
          <p:nvPr/>
        </p:nvSpPr>
        <p:spPr>
          <a:xfrm>
            <a:off x="6908800" y="47244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Results imported into Jira test execution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1538885-7062-D485-E8E9-F271F5499D72}"/>
              </a:ext>
            </a:extLst>
          </p:cNvPr>
          <p:cNvCxnSpPr/>
          <p:nvPr/>
        </p:nvCxnSpPr>
        <p:spPr>
          <a:xfrm>
            <a:off x="6578600" y="4927600"/>
            <a:ext cx="0" cy="15240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BD3C724-E57F-44C9-24BC-01E3B67A5AD6}"/>
              </a:ext>
            </a:extLst>
          </p:cNvPr>
          <p:cNvSpPr/>
          <p:nvPr/>
        </p:nvSpPr>
        <p:spPr>
          <a:xfrm>
            <a:off x="6375400" y="5181600"/>
            <a:ext cx="406400" cy="406400"/>
          </a:xfrm>
          <a:prstGeom prst="ellipse">
            <a:avLst/>
          </a:prstGeom>
          <a:solidFill>
            <a:srgbClr val="16305C"/>
          </a:solidFill>
          <a:ln w="254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D78948-8BC8-A809-422A-E86E14B5BDBA}"/>
              </a:ext>
            </a:extLst>
          </p:cNvPr>
          <p:cNvSpPr txBox="1"/>
          <p:nvPr/>
        </p:nvSpPr>
        <p:spPr>
          <a:xfrm>
            <a:off x="6375400" y="5283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A3B310-DDFC-4BA5-01F5-EEE64AFFEDCD}"/>
              </a:ext>
            </a:extLst>
          </p:cNvPr>
          <p:cNvSpPr txBox="1"/>
          <p:nvPr/>
        </p:nvSpPr>
        <p:spPr>
          <a:xfrm>
            <a:off x="6908800" y="5181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 b="1">
                <a:solidFill>
                  <a:srgbClr val="16305C"/>
                </a:solidFill>
                <a:latin typeface="Segoe UI" panose="020B0502040204020203" pitchFamily="34" charset="0"/>
              </a:rPr>
              <a:t>Notify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D439EA-FC41-0CD7-DC58-B4943D0E4A38}"/>
              </a:ext>
            </a:extLst>
          </p:cNvPr>
          <p:cNvSpPr txBox="1"/>
          <p:nvPr/>
        </p:nvSpPr>
        <p:spPr>
          <a:xfrm>
            <a:off x="6908800" y="53848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1F3864"/>
                </a:solidFill>
                <a:latin typeface="Segoe UI" panose="020B0502040204020203" pitchFamily="34" charset="0"/>
              </a:rPr>
              <a:t>Pass/fail status posted to team channel</a:t>
            </a:r>
            <a:endParaRPr lang="en-IN" sz="110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96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45C22E-CC7E-D8C0-DB5E-265A107FAE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0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17B7F4-D469-E9DF-3FF3-CFE8C994CA7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519C3A-07C7-A979-36E4-A254F277223B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182AD-978B-291B-DE04-81422FA82FCA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3600" b="1">
                <a:solidFill>
                  <a:srgbClr val="FFFFFF"/>
                </a:solidFill>
                <a:latin typeface="Segoe UI" panose="020B0502040204020203" pitchFamily="34" charset="0"/>
              </a:rPr>
              <a:t>Summary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221A26-F352-F36B-E037-BE33B2877A2C}"/>
              </a:ext>
            </a:extLst>
          </p:cNvPr>
          <p:cNvSpPr/>
          <p:nvPr/>
        </p:nvSpPr>
        <p:spPr>
          <a:xfrm>
            <a:off x="5080000" y="1143000"/>
            <a:ext cx="2032000" cy="50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89BFE3-C420-884F-CCC4-3D49F10D7C82}"/>
              </a:ext>
            </a:extLst>
          </p:cNvPr>
          <p:cNvSpPr/>
          <p:nvPr/>
        </p:nvSpPr>
        <p:spPr>
          <a:xfrm>
            <a:off x="2540000" y="1473200"/>
            <a:ext cx="127000" cy="1270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0C968-0C8E-6B91-5FF0-E23910626ED0}"/>
              </a:ext>
            </a:extLst>
          </p:cNvPr>
          <p:cNvSpPr txBox="1"/>
          <p:nvPr/>
        </p:nvSpPr>
        <p:spPr>
          <a:xfrm>
            <a:off x="2794000" y="13970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54 automated E2E tests across 4 feature modules</a:t>
            </a:r>
            <a:endParaRPr lang="en-IN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A5F3F2-4BF1-8D86-7229-0A40F7039F50}"/>
              </a:ext>
            </a:extLst>
          </p:cNvPr>
          <p:cNvSpPr/>
          <p:nvPr/>
        </p:nvSpPr>
        <p:spPr>
          <a:xfrm>
            <a:off x="2540000" y="1930400"/>
            <a:ext cx="127000" cy="1270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0667A-F16A-90F9-7F41-9DB3ADAC0EC6}"/>
              </a:ext>
            </a:extLst>
          </p:cNvPr>
          <p:cNvSpPr txBox="1"/>
          <p:nvPr/>
        </p:nvSpPr>
        <p:spPr>
          <a:xfrm>
            <a:off x="2794000" y="18542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100+ visual regression screenshots — pixel-level accuracy</a:t>
            </a:r>
            <a:endParaRPr lang="en-IN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2D9F6C-3079-85AE-1989-9A603C47736F}"/>
              </a:ext>
            </a:extLst>
          </p:cNvPr>
          <p:cNvSpPr/>
          <p:nvPr/>
        </p:nvSpPr>
        <p:spPr>
          <a:xfrm>
            <a:off x="2540000" y="2387600"/>
            <a:ext cx="127000" cy="1270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20C3A4-2423-6FFA-A3E6-5E5E60E1B9AA}"/>
              </a:ext>
            </a:extLst>
          </p:cNvPr>
          <p:cNvSpPr txBox="1"/>
          <p:nvPr/>
        </p:nvSpPr>
        <p:spPr>
          <a:xfrm>
            <a:off x="2794000" y="23114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Self-contained tests: no shared state, no flaky setup dependencies</a:t>
            </a:r>
            <a:endParaRPr lang="en-IN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BEE2D2-9A2E-BCA3-266A-9C888F78B13F}"/>
              </a:ext>
            </a:extLst>
          </p:cNvPr>
          <p:cNvSpPr/>
          <p:nvPr/>
        </p:nvSpPr>
        <p:spPr>
          <a:xfrm>
            <a:off x="2540000" y="2844800"/>
            <a:ext cx="127000" cy="1270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A641B-5C03-1335-D2B3-D4A90D334F34}"/>
              </a:ext>
            </a:extLst>
          </p:cNvPr>
          <p:cNvSpPr txBox="1"/>
          <p:nvPr/>
        </p:nvSpPr>
        <p:spPr>
          <a:xfrm>
            <a:off x="2794000" y="27686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Centralized locators.js and config.js for easy maintenance</a:t>
            </a:r>
            <a:endParaRPr lang="en-IN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071C0D-8086-D283-B14D-A10051582EDD}"/>
              </a:ext>
            </a:extLst>
          </p:cNvPr>
          <p:cNvSpPr/>
          <p:nvPr/>
        </p:nvSpPr>
        <p:spPr>
          <a:xfrm>
            <a:off x="2540000" y="3302000"/>
            <a:ext cx="127000" cy="1270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0ED536-DA93-D48E-06FE-85C94D623E95}"/>
              </a:ext>
            </a:extLst>
          </p:cNvPr>
          <p:cNvSpPr txBox="1"/>
          <p:nvPr/>
        </p:nvSpPr>
        <p:spPr>
          <a:xfrm>
            <a:off x="2794000" y="32258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Xray integration for full traceability in Jira</a:t>
            </a:r>
            <a:endParaRPr lang="en-IN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BBED4D-C5B3-A8E4-889D-3FF47FEFE9C2}"/>
              </a:ext>
            </a:extLst>
          </p:cNvPr>
          <p:cNvSpPr/>
          <p:nvPr/>
        </p:nvSpPr>
        <p:spPr>
          <a:xfrm>
            <a:off x="2540000" y="3759200"/>
            <a:ext cx="127000" cy="127000"/>
          </a:xfrm>
          <a:prstGeom prst="ellipse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2BD155-273D-34D6-71B4-6C75807EFA08}"/>
              </a:ext>
            </a:extLst>
          </p:cNvPr>
          <p:cNvSpPr txBox="1"/>
          <p:nvPr/>
        </p:nvSpPr>
        <p:spPr>
          <a:xfrm>
            <a:off x="2794000" y="36830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Runs on qa1 environment, easily switchable to any target URL</a:t>
            </a:r>
            <a:endParaRPr lang="en-IN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F54AD8-65F6-29DC-43E9-FF422D32B616}"/>
              </a:ext>
            </a:extLst>
          </p:cNvPr>
          <p:cNvSpPr/>
          <p:nvPr/>
        </p:nvSpPr>
        <p:spPr>
          <a:xfrm>
            <a:off x="2540000" y="4826000"/>
            <a:ext cx="7112000" cy="508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E7C34E-01CC-A801-4971-F4A33DB7598E}"/>
              </a:ext>
            </a:extLst>
          </p:cNvPr>
          <p:cNvSpPr txBox="1"/>
          <p:nvPr/>
        </p:nvSpPr>
        <p:spPr>
          <a:xfrm>
            <a:off x="2540000" y="4953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b="1">
                <a:solidFill>
                  <a:srgbClr val="AED6F1"/>
                </a:solidFill>
                <a:latin typeface="Segoe UI" panose="020B0502040204020203" pitchFamily="34" charset="0"/>
              </a:rPr>
              <a:t>Next Steps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868442-2F57-C0BB-5ADE-30D63A57A680}"/>
              </a:ext>
            </a:extLst>
          </p:cNvPr>
          <p:cNvSpPr txBox="1"/>
          <p:nvPr/>
        </p:nvSpPr>
        <p:spPr>
          <a:xfrm>
            <a:off x="2540000" y="5334000"/>
            <a:ext cx="711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>
                <a:solidFill>
                  <a:srgbClr val="AED6F1"/>
                </a:solidFill>
                <a:latin typeface="Segoe UI" panose="020B0502040204020203" pitchFamily="34" charset="0"/>
              </a:rPr>
              <a:t>GIS Viewer module  ·  UE Viewer module  ·  Parallel test execution  ·  Nightly CI schedule</a:t>
            </a:r>
            <a:endParaRPr lang="en-IN" sz="1300">
              <a:solidFill>
                <a:srgbClr val="AED6F1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DE5A71-3C6E-D368-CEA9-6323E137A3C9}"/>
              </a:ext>
            </a:extLst>
          </p:cNvPr>
          <p:cNvSpPr txBox="1"/>
          <p:nvPr/>
        </p:nvSpPr>
        <p:spPr>
          <a:xfrm>
            <a:off x="762000" y="584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200" i="1">
                <a:solidFill>
                  <a:srgbClr val="92B0CD"/>
                </a:solidFill>
                <a:latin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5320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1567</Words>
  <Application>Microsoft Office PowerPoint</Application>
  <PresentationFormat>Widescreen</PresentationFormat>
  <Paragraphs>240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Ramu</dc:creator>
  <cp:lastModifiedBy>Karthik Ramu</cp:lastModifiedBy>
  <cp:revision>1</cp:revision>
  <dcterms:created xsi:type="dcterms:W3CDTF">2026-05-28T08:51:54Z</dcterms:created>
  <dcterms:modified xsi:type="dcterms:W3CDTF">2026-05-28T08:54:29Z</dcterms:modified>
</cp:coreProperties>
</file>