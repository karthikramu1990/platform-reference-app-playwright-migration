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411" r:id="rId16"/>
    <p:sldId id="262" r:id="rId6"/>
    <p:sldId id="263" r:id="rId7"/>
    <p:sldId id="412" r:id="rId17"/>
    <p:sldId id="264" r:id="rId8"/>
    <p:sldId id="413" r:id="rId18"/>
    <p:sldId id="265" r:id="rId9"/>
    <p:sldId id="41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F174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17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46-416B-8A97-BC514AE5EAF1}"/>
              </c:ext>
            </c:extLst>
          </c:dPt>
          <c:dPt>
            <c:idx val="1"/>
            <c:invertIfNegative val="0"/>
            <c:bubble3D val="0"/>
            <c:spPr>
              <a:solidFill>
                <a:srgbClr val="3C46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46-416B-8A97-BC514AE5EAF1}"/>
              </c:ext>
            </c:extLst>
          </c:dPt>
          <c:dPt>
            <c:idx val="2"/>
            <c:invertIfNegative val="0"/>
            <c:bubble3D val="0"/>
            <c:spPr>
              <a:solidFill>
                <a:srgbClr val="C4D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46-416B-8A97-BC514AE5EA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Bug</c:v>
                </c:pt>
                <c:pt idx="1">
                  <c:v>Story</c:v>
                </c:pt>
                <c:pt idx="2">
                  <c:v>Task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16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46-416B-8A97-BC514AE5EA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0F17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5D-4AE0-A38A-31C3E5612497}"/>
              </c:ext>
            </c:extLst>
          </c:dPt>
          <c:dPt>
            <c:idx val="1"/>
            <c:invertIfNegative val="0"/>
            <c:bubble3D val="0"/>
            <c:spPr>
              <a:solidFill>
                <a:srgbClr val="909C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5D-4AE0-A38A-31C3E5612497}"/>
              </c:ext>
            </c:extLst>
          </c:dPt>
          <c:dPt>
            <c:idx val="2"/>
            <c:invertIfNegative val="0"/>
            <c:bubble3D val="0"/>
            <c:spPr>
              <a:solidFill>
                <a:srgbClr val="C4D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5D-4AE0-A38A-31C3E56124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PA-1716 (Generate graph data)</c:v>
                </c:pt>
                <c:pt idx="1">
                  <c:v>PA-1594 (Custom MCP tool)</c:v>
                </c:pt>
                <c:pt idx="2">
                  <c:v>PA-1615 (Model import POC)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5D-4AE0-A38A-31C3E56124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B036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036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95-486A-8BD3-6F496B92A2B2}"/>
              </c:ext>
            </c:extLst>
          </c:dPt>
          <c:dPt>
            <c:idx val="1"/>
            <c:invertIfNegative val="0"/>
            <c:bubble3D val="0"/>
            <c:spPr>
              <a:solidFill>
                <a:srgbClr val="B477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95-486A-8BD3-6F496B92A2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Blocker</c:v>
                </c:pt>
                <c:pt idx="1">
                  <c:v>Major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95-486A-8BD3-6F496B92A2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0F17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FC957C1B-C74E-4A2C-BDC9-C1F34DACAFE2}"/>
              </c:ext>
            </c:extLst>
          </c:dPt>
          <c:dPt>
            <c:idx val="1"/>
            <c:invertIfNegative val="0"/>
            <c:bubble3D val="0"/>
            <c:spPr>
              <a:solidFill>
                <a:srgbClr val="909CBC"/>
              </a:solidFill>
              <a:effectLst/>
            </c:spPr>
            <c:extLst>
              <c:ext xmlns:c16="http://schemas.microsoft.com/office/drawing/2014/chart" uri="{C3380CC4-5D6E-409C-BE32-E72D297353CC}">
                <c16:uniqueId val="{B6F169BD-6A1C-4D53-B204-90A0B2C52C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F4F2B4DD-476B-47FE-9C24-53ACCBFA85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B036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0362A"/>
              </a:solidFill>
              <a:effectLst/>
            </c:spPr>
            <c:extLst>
              <c:ext xmlns:c16="http://schemas.microsoft.com/office/drawing/2014/chart" uri="{C3380CC4-5D6E-409C-BE32-E72D297353CC}">
                <c16:uniqueId val="{45A67CD4-6280-4E37-AFAA-0C9199AB272B}"/>
              </c:ext>
            </c:extLst>
          </c:dPt>
          <c:dPt>
            <c:idx val="1"/>
            <c:invertIfNegative val="0"/>
            <c:bubble3D val="0"/>
            <c:spPr>
              <a:solidFill>
                <a:srgbClr val="B4770A"/>
              </a:solidFill>
              <a:effectLst/>
            </c:spPr>
            <c:extLst>
              <c:ext xmlns:c16="http://schemas.microsoft.com/office/drawing/2014/chart" uri="{C3380CC4-5D6E-409C-BE32-E72D297353CC}">
                <c16:uniqueId val="{5E5F0ACC-AB99-4985-8D1A-9D14F1A0B7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Blocker</c:v>
                </c:pt>
                <c:pt idx="1">
                  <c:v>Major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73C7195F-D6C8-4F0F-B698-41167C7A3D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0F17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9F1759A6-369E-4C5E-88E0-6D75BE11A8E3}"/>
              </c:ext>
            </c:extLst>
          </c:dPt>
          <c:dPt>
            <c:idx val="1"/>
            <c:invertIfNegative val="0"/>
            <c:bubble3D val="0"/>
            <c:spPr>
              <a:solidFill>
                <a:srgbClr val="909CBC"/>
              </a:solidFill>
              <a:effectLst/>
            </c:spPr>
            <c:extLst>
              <c:ext xmlns:c16="http://schemas.microsoft.com/office/drawing/2014/chart" uri="{C3380CC4-5D6E-409C-BE32-E72D297353CC}">
                <c16:uniqueId val="{C4923112-725E-4CC9-A0AA-5EDBC4D5A193}"/>
              </c:ext>
            </c:extLst>
          </c:dPt>
          <c:dPt>
            <c:idx val="2"/>
            <c:invertIfNegative val="0"/>
            <c:bubble3D val="0"/>
            <c:spPr>
              <a:solidFill>
                <a:srgbClr val="C4D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19417E-1062-491E-8E78-8C2BE73C9D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PA-1716 (Generate graph data)</c:v>
                </c:pt>
                <c:pt idx="1">
                  <c:v>PA-1594 (Custom MCP tool)</c:v>
                </c:pt>
                <c:pt idx="2">
                  <c:v>PA-1615 (Model import POC)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10356DE2-87F6-41AA-B86C-ED1B6D5B6E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80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PLG themes covered by these 38 tickets: GIS 2.0 / Federated Projects (e.g. PLG-1477, 1478, 1479, 1682, 1685, 1689, 1690, 1779, 1804), Model Composition / Optimized Models (PLG-1624, 1760, 1764, 1771, 1774, 1793), View3d performance &amp; regression (PLG-1570, 1607, 1666, 1671, 1688, 1691, 1725, 1726), and DevOps/security/dependency housekeeping (PLG-1417, 1471, 1475, 1517, 1670, 1787, 1805, 1840, 1842, 1858).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 Reference App (PA) worked tickets behind these 18 test cases: PA-1594 (Custom MCP tool Integration), PA-1615 (Model import POC: types as related items not relationships), PA-1716 (Generate graph data). Automation: all 20 PA Playwright scenarios pass and cover Reference App functionality through Release 5.2, total execution time 20 min 22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 defects (14): PA-1629 &amp; PA-1630 Blocker/Done; PA-1731,1733,1735,1736,1737,1742,1744,1749,1753,1765,1776 Major/Done; PA-1756 Major/Deferred. PLG defects (4, all Major/Done): PLG-2837, 2838, 2839, 2854.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automation facts: (1) Regression automation passed for BOTH projects this release — 20/20 PA and 62/62 PLG Playwright scenarios green, no failures. (2) In-sprint automation (writing new automated coverage for tickets worked in 5.2) was completed for all PA tickets, but blocked for PLG tickets by a project/environment setup issue — so the PLG in-sprint automation criterion is not met, independent of the 62 existing PLG scenarios that did run and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8A306E-10EE-EFD6-AEAC-A6D7227D4BEA}"/>
              </a:ext>
            </a:extLst>
          </p:cNvPr>
          <p:cNvSpPr/>
          <p:nvPr userDrawn="1"/>
        </p:nvSpPr>
        <p:spPr>
          <a:xfrm>
            <a:off x="9239533" y="0"/>
            <a:ext cx="2952467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hord 5">
            <a:extLst>
              <a:ext uri="{FF2B5EF4-FFF2-40B4-BE49-F238E27FC236}">
                <a16:creationId xmlns:a16="http://schemas.microsoft.com/office/drawing/2014/main" id="{B9F24B6F-B0FA-5047-A3B4-2EC652A6C9EB}"/>
              </a:ext>
            </a:extLst>
          </p:cNvPr>
          <p:cNvSpPr/>
          <p:nvPr userDrawn="1"/>
        </p:nvSpPr>
        <p:spPr>
          <a:xfrm>
            <a:off x="6440243" y="0"/>
            <a:ext cx="5667768" cy="6858000"/>
          </a:xfrm>
          <a:prstGeom prst="chord">
            <a:avLst>
              <a:gd name="adj1" fmla="val 5400368"/>
              <a:gd name="adj2" fmla="val 16200000"/>
            </a:avLst>
          </a:prstGeom>
          <a:solidFill>
            <a:srgbClr val="F0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A214E2-1081-4443-B7AC-8A63DBFDED59}"/>
              </a:ext>
            </a:extLst>
          </p:cNvPr>
          <p:cNvSpPr txBox="1">
            <a:spLocks/>
          </p:cNvSpPr>
          <p:nvPr userDrawn="1"/>
        </p:nvSpPr>
        <p:spPr>
          <a:xfrm>
            <a:off x="589966" y="2652002"/>
            <a:ext cx="5400675" cy="1402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tx1"/>
                </a:solidFill>
                <a:latin typeface="Faricy New Rg" panose="020B0503000000020004" pitchFamily="34" charset="0"/>
                <a:ea typeface="+mj-ea"/>
                <a:cs typeface="+mj-cs"/>
              </a:defRPr>
            </a:lvl1pPr>
          </a:lstStyle>
          <a:p>
            <a:r>
              <a:rPr lang="en-IE" sz="5400" b="1" i="0" cap="none">
                <a:solidFill>
                  <a:srgbClr val="002646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Thank you</a:t>
            </a:r>
            <a:br>
              <a:rPr lang="en-IE" sz="3600" cap="none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IE" sz="3600" cap="none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3600" b="0" i="0" cap="none">
                <a:solidFill>
                  <a:srgbClr val="3B4D67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Questions?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0FB6D5-9472-CFB9-85AF-AEDD6FB38F8C}"/>
              </a:ext>
            </a:extLst>
          </p:cNvPr>
          <p:cNvSpPr/>
          <p:nvPr userDrawn="1"/>
        </p:nvSpPr>
        <p:spPr>
          <a:xfrm>
            <a:off x="695325" y="3412436"/>
            <a:ext cx="1008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02ADE67-97BF-6873-6159-C5B657B9F8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8248" y="2688586"/>
            <a:ext cx="4529870" cy="423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1" i="0">
                <a:solidFill>
                  <a:srgbClr val="002646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IE"/>
              <a:t>Speaker name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209396-1F67-BFCA-D8F1-4A064FAEDA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8248" y="3151340"/>
            <a:ext cx="4529870" cy="423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>
                <a:solidFill>
                  <a:srgbClr val="3B4D67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IE" dirty="0"/>
              <a:t>Speaker title | Twinit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CD14FB-9EEA-0997-F75B-78660FF6AF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8248" y="3614095"/>
            <a:ext cx="4529870" cy="423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 u="sng">
                <a:solidFill>
                  <a:srgbClr val="3B4D67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IE" dirty="0" err="1"/>
              <a:t>Speakeremail@twinit.Com</a:t>
            </a:r>
            <a:endParaRPr lang="en-I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6A809-3FEF-D1A6-7E85-75E5E57B1EBC}"/>
              </a:ext>
            </a:extLst>
          </p:cNvPr>
          <p:cNvSpPr txBox="1"/>
          <p:nvPr userDrawn="1"/>
        </p:nvSpPr>
        <p:spPr>
          <a:xfrm>
            <a:off x="1279160" y="6546594"/>
            <a:ext cx="2601928" cy="18042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700" dirty="0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© Copyright 2024 Invicara® | Twinit® | All rights reserved |</a:t>
            </a:r>
          </a:p>
        </p:txBody>
      </p:sp>
      <p:pic>
        <p:nvPicPr>
          <p:cNvPr id="18" name="Picture 1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5D0D5960-1032-C5E7-8A20-143AC71F93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090" y="6507000"/>
            <a:ext cx="1080387" cy="216000"/>
          </a:xfrm>
          <a:prstGeom prst="rect">
            <a:avLst/>
          </a:prstGeom>
        </p:spPr>
      </p:pic>
      <p:pic>
        <p:nvPicPr>
          <p:cNvPr id="19" name="Picture 18" descr="A blue and pink logo with a black background&#10;&#10;Description automatically generated">
            <a:extLst>
              <a:ext uri="{FF2B5EF4-FFF2-40B4-BE49-F238E27FC236}">
                <a16:creationId xmlns:a16="http://schemas.microsoft.com/office/drawing/2014/main" id="{E674B442-1D1D-E361-FBD2-F6F2BCF80C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01" y="6372000"/>
            <a:ext cx="103107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84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and white background&#10;&#10;Description automatically generated">
            <a:extLst>
              <a:ext uri="{FF2B5EF4-FFF2-40B4-BE49-F238E27FC236}">
                <a16:creationId xmlns:a16="http://schemas.microsoft.com/office/drawing/2014/main" id="{FF28FB65-F9A7-2BA1-BB4F-E785E5C7E9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41A45">
              <a:alpha val="7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41A45">
              <a:alpha val="7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 DECK  ·  QA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Application 5.2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 &amp; QA Readiness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&amp; Release Readiness Review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39496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QA, Engineering, Product &amp; Stakeholders
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C64ED-48E6-4DD5-11AA-D3AE70BCFF45}"/>
              </a:ext>
            </a:extLst>
          </p:cNvPr>
          <p:cNvSpPr txBox="1"/>
          <p:nvPr/>
        </p:nvSpPr>
        <p:spPr>
          <a:xfrm>
            <a:off x="1279159" y="6515273"/>
            <a:ext cx="2601928" cy="18042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700" dirty="0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© Copyright 2024 Invicara® | Twinit® | All rights reserved |</a:t>
            </a:r>
          </a:p>
        </p:txBody>
      </p:sp>
      <p:pic>
        <p:nvPicPr>
          <p:cNvPr id="16" name="Picture 1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55605FF-C827-37B4-80E0-729A1CFC61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088" y="6475679"/>
            <a:ext cx="1080388" cy="216000"/>
          </a:xfrm>
          <a:prstGeom prst="rect">
            <a:avLst/>
          </a:prstGeom>
        </p:spPr>
      </p:pic>
      <p:pic>
        <p:nvPicPr>
          <p:cNvPr id="18" name="Picture 17" descr="A white text with pink and orange dots on a black background&#10;&#10;Description automatically generated">
            <a:extLst>
              <a:ext uri="{FF2B5EF4-FFF2-40B4-BE49-F238E27FC236}">
                <a16:creationId xmlns:a16="http://schemas.microsoft.com/office/drawing/2014/main" id="{AD7D4C42-6C72-D243-BA21-646AE29AE5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00" y="6340679"/>
            <a:ext cx="1031072" cy="4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“Release 5.2 — QA Metrics Dashboard” uploaded for Karthik Ramu. Defects = raised (reporter) AND assigned to Karthik Ramu.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821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238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25856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V5.2 + Platform V5.2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2244" y="1554480"/>
            <a:ext cx="26821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468548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68548" y="1883664"/>
            <a:ext cx="238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05, 2026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68548" y="225856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pulled live from Jira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7288" y="1554480"/>
            <a:ext cx="26821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333592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PROJECTS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33592" y="1883664"/>
            <a:ext cx="238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· PLG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33592" y="225856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· Platform Graphics (iaf-viewer)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52331" y="1554480"/>
            <a:ext cx="26821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9198635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OWNER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98635" y="1883664"/>
            <a:ext cx="238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98635" y="225856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= Assignee filter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11277295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94944" y="29260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METRICS SUMMARY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34076"/>
              </p:ext>
            </p:extLst>
          </p:nvPr>
        </p:nvGraphicFramePr>
        <p:xfrm>
          <a:off x="694944" y="3246120"/>
          <a:ext cx="10801807" cy="2834640"/>
        </p:xfrm>
        <a:graphic>
          <a:graphicData uri="http://schemas.openxmlformats.org/drawingml/2006/table">
            <a:tbl>
              <a:tblPr/>
              <a:tblGrid>
                <a:gridCol w="4536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 / Field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Reference App V5.2 (PA)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Platform Graphics V5.2 (PLG)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Defects Raised 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14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Blocker Defects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Closed / Done Defects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13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Deferred Defects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Worked Tickets (Done)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3 (Task)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38 (21 Bug, 16 Story, 1 Task)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Total Test Cases (Xray, 5.2 only)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18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81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Test Cases Verified (Done)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18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81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Test Cases Pending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Automated Tests (Run / Passed / Failed)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20 / 20 / 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</a:rPr>
                        <a:t>62 / 62 / 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Summary &amp; Key Highlights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7" name="Text 5"/>
          <p:cNvSpPr/>
          <p:nvPr/>
        </p:nvSpPr>
        <p:spPr>
          <a:xfrm>
            <a:off x="603504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RAISEDE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67229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2513533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CLOSED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3533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277258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423562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TICKETS (DONE)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23562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23562" y="2670048"/>
            <a:ext cx="14345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 + 38 PLG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7288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333592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 TEST CASES (5.2 ONLY)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33592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33592" y="2670048"/>
            <a:ext cx="14345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 + 81 PLG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7317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8243621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VERIFIED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43621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007346" y="1600200"/>
            <a:ext cx="172714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10153650" y="1709928"/>
            <a:ext cx="1434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PENDING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153650" y="1929384"/>
            <a:ext cx="14345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4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1277295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731520" y="3611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02336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92CDCF7D-9AC8-26B0-C7E5-308DB0EE7374}"/>
              </a:ext>
            </a:extLst>
          </p:cNvPr>
          <p:cNvSpPr/>
          <p:nvPr/>
        </p:nvSpPr>
        <p:spPr>
          <a:xfrm>
            <a:off x="457199" y="3300984"/>
            <a:ext cx="11277295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98893DA9-EE71-72B4-AFBF-FD39E4382B4C}"/>
              </a:ext>
            </a:extLst>
          </p:cNvPr>
          <p:cNvSpPr/>
          <p:nvPr/>
        </p:nvSpPr>
        <p:spPr>
          <a:xfrm>
            <a:off x="487578" y="3223260"/>
            <a:ext cx="11277295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448F2E4E-C274-3546-974F-8483966EB0A2}"/>
              </a:ext>
            </a:extLst>
          </p:cNvPr>
          <p:cNvSpPr/>
          <p:nvPr/>
        </p:nvSpPr>
        <p:spPr>
          <a:xfrm>
            <a:off x="822960" y="3318256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A7C883A-0C9C-CC02-739E-5336A4A52DC4}"/>
              </a:ext>
            </a:extLst>
          </p:cNvPr>
          <p:cNvSpPr/>
          <p:nvPr/>
        </p:nvSpPr>
        <p:spPr>
          <a:xfrm>
            <a:off x="1060704" y="374904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migrated to Playwright.</a:t>
            </a:r>
            <a:endParaRPr lang="en-US" sz="13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9AAC486C-4F18-734F-944A-9F78413A9F96}"/>
              </a:ext>
            </a:extLst>
          </p:cNvPr>
          <p:cNvSpPr/>
          <p:nvPr/>
        </p:nvSpPr>
        <p:spPr>
          <a:xfrm>
            <a:off x="1060704" y="425196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PQA Assistant significantly simplified bug creation and test case creation/execution.</a:t>
            </a:r>
            <a:endParaRPr lang="en-US" sz="1300" dirty="0"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CA32B924-E3A1-5C9D-EB6A-B4DB82159FBF}"/>
              </a:ext>
            </a:extLst>
          </p:cNvPr>
          <p:cNvSpPr/>
          <p:nvPr/>
        </p:nvSpPr>
        <p:spPr>
          <a:xfrm>
            <a:off x="1060704" y="475488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Claude/Copilot made writing automation scripts much faster and easier.</a:t>
            </a:r>
            <a:endParaRPr lang="en-US" sz="13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DB0D3406-78BF-88BD-1FE2-40C9C8A340F1}"/>
              </a:ext>
            </a:extLst>
          </p:cNvPr>
          <p:cNvSpPr/>
          <p:nvPr/>
        </p:nvSpPr>
        <p:spPr>
          <a:xfrm>
            <a:off x="1060704" y="525780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Xray/Jira integration enabled real-time tracking of test execution status.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Tickets — Platform Graphics (PLG)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11829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709928"/>
            <a:ext cx="1825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929384"/>
            <a:ext cx="182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58379" y="1600200"/>
            <a:ext cx="211829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2904683" y="1709928"/>
            <a:ext cx="1825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04683" y="1929384"/>
            <a:ext cx="182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11829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03504" y="2761488"/>
            <a:ext cx="1825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(ATUL K.)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" y="2980944"/>
            <a:ext cx="182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" y="3218688"/>
            <a:ext cx="1825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per row, not hidden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58379" y="2651760"/>
            <a:ext cx="211829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2904683" y="2761488"/>
            <a:ext cx="1825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XRAY COVERAGE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04683" y="2980944"/>
            <a:ext cx="182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4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904683" y="3218688"/>
            <a:ext cx="1825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has 0 tracked test cases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88158" y="1600200"/>
            <a:ext cx="6446337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507614" y="1764792"/>
            <a:ext cx="6007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TICKETS BY TYPE (38 TOTAL)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7614" y="2039112"/>
            <a:ext cx="6007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breakdown as stated in the Release Metrics Summary table.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562478" y="2468880"/>
          <a:ext cx="589769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Validation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dimension breakdown covers Reference App (PA)’s 18 ticket-scoped Xray test cases; Platform Graphics (PLG) has 81 Xray test cases logged against 5.2, tracked at the project level (see Test Coverage slide).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27045"/>
              </p:ext>
            </p:extLst>
          </p:nvPr>
        </p:nvGraphicFramePr>
        <p:xfrm>
          <a:off x="457200" y="1463040"/>
          <a:ext cx="11277295" cy="4389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8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 (as documented)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Test Scope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5AAC"/>
                          </a:solidFill>
                        </a:rPr>
                        <a:t>Defined (PA only)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18 Xray test cases scoped to fixVersion “Reference App V5.2,” linked to PA-1594, PA-1615, PA-1716. PLG’s 81 test cases are tracked separately.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Functional Testing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</a:rPr>
                        <a:t>Not separately reported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No breakout by functional/regression/integration/UI test type in the source.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Regression Testing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</a:rPr>
                        <a:t>Not available in source report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No regression-specific figures provided.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Automation (Playwright)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Completed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/>
                        <a:t>100% — 20/20 Playwright scenarios, covering Reference App features through Release 5.2 (total runtime 20 min 22 sec)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Environment(s) Used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</a:rPr>
                        <a:t>Done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Inqa2, inociqa3, inocistag3, </a:t>
                      </a:r>
                      <a:r>
                        <a:rPr lang="en-US" sz="1000" dirty="0" err="1">
                          <a:solidFill>
                            <a:srgbClr val="5B6472"/>
                          </a:solidFill>
                        </a:rPr>
                        <a:t>EUstaging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Build / Version Tested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5AAC"/>
                          </a:solidFill>
                        </a:rPr>
                        <a:t>Documented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Reference App V5.2 (PA) · Platform V5.2 (PLG).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Overall QA Status (PA)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100% verified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</a:rPr>
                        <a:t>18/18 Xray test cases Done; 0 pending.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6" name="Text 5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— Reference App (PA)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reproduced exactly from the source report. This per-ticket breakdown covers Reference App (PA)’s 18 Xray test cases only. Platform Graphics (PLG) test coverage is shown on the following slide.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 (PA)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21284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Xray, 5.2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2244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468548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(DONE)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68548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87288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333592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33592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6766377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94944" y="2971800"/>
            <a:ext cx="6309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TEST CASES BY WORKED TICKET (18 TOTAL)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31520" y="3383280"/>
          <a:ext cx="6126297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497897" y="2788920"/>
            <a:ext cx="4236598" cy="3063240"/>
          </a:xfrm>
          <a:prstGeom prst="roundRect">
            <a:avLst>
              <a:gd name="adj" fmla="val 2388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7735641" y="310896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735641" y="397764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PA's 18 Xray test cases verified (Done); 0 pending, 0 blocked.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&amp; Known Issues — Reference App (PA)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require Karthik Ramu as BOTH reporter and assignee. Scoped to Reference App (PA) only — Platform Graphics (PLG) defects are shown on the following slide.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12140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V5.2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71152" y="155448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017456" y="166420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DONE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456" y="188366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456" y="212140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V5.2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03504" y="271576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293522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4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" y="317296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PA-1756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71152" y="260604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3017456" y="271576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PRIORITY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456" y="293522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17456" y="317296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PA-1629, PA-1630 (both Done)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736464" cy="1691640"/>
          </a:xfrm>
          <a:prstGeom prst="roundRect">
            <a:avLst>
              <a:gd name="adj" fmla="val 4324"/>
            </a:avLst>
          </a:prstGeom>
          <a:solidFill>
            <a:srgbClr val="FBEFDD"/>
          </a:solidFill>
          <a:ln w="12700">
            <a:solidFill>
              <a:srgbClr val="FBEFDD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76656" y="3986784"/>
            <a:ext cx="429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PA-1756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297680"/>
            <a:ext cx="4297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app: version is not displayed in the Reference App user profile. Priority: Major. Status: Deferred.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13704" y="1554480"/>
            <a:ext cx="6220791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733160" y="1719072"/>
            <a:ext cx="5781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BY PRIORITY (14 TOTAL)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33160" y="1993392"/>
            <a:ext cx="5781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by severity, not by count — Blocker in red, Major in amber.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788024" y="2423160"/>
          <a:ext cx="567215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&amp; Exit Criteria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98501"/>
              </p:ext>
            </p:extLst>
          </p:nvPr>
        </p:nvGraphicFramePr>
        <p:xfrm>
          <a:off x="457200" y="1417320"/>
          <a:ext cx="11277295" cy="49500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                                            Criteria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          Target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                               Actual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                        Met?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Dev complete before test start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30 Jul 2026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Pass percentage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≥ 95%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Blocked test cases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Critical / open defects at sign-off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0 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Code coverage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≥ 85%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Test stability (non-flaky)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≥ 90%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Regression Automation (PA + PLG)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20/20 PA + 62/62 PLG scenarios passed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In-Sprint Automation (PA)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Complete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All new PA tickets automated this release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In-Sprint Automation (PLG)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Complete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Blocked — project/environment setup issue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6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55944A-55A0-F238-A9DB-44CB252083AF}"/>
              </a:ext>
            </a:extLst>
          </p:cNvPr>
          <p:cNvSpPr/>
          <p:nvPr/>
        </p:nvSpPr>
        <p:spPr>
          <a:xfrm>
            <a:off x="579120" y="3271520"/>
            <a:ext cx="2875280" cy="924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622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Tickets — Reference App (PA)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Reference App (PA) worked tickets this release, all Done (Task type). Platform Graphics (PLG) worked tickets are shown on a separate slide.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21284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type, 100%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2244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468548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68548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87288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333592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 COVERAGE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33592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6766377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94944" y="2971800"/>
            <a:ext cx="6309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 TEST CASES BY WORKED TICKET (18 TOTAL)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31520" y="3383280"/>
          <a:ext cx="6126297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497897" y="2788920"/>
            <a:ext cx="4236598" cy="3063240"/>
          </a:xfrm>
          <a:prstGeom prst="roundRect">
            <a:avLst>
              <a:gd name="adj" fmla="val 2388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7735641" y="310896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735641" y="397764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worked tickets Done: PA-1594 (Custom MCP tool Integration), PA-1615 (Model import POC), PA-1716 (Generate graph data).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— Platform Graphics (PLG)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81 Xray Test cases in the "Viewer 5.2 Test cases" folder, fixVersion "Platform V5.2." Tracked at the project level, not broken out per worked ticket in the source report.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 (PLG)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212848"/>
            <a:ext cx="238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Xray, 5.2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2244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468548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(DONE)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68548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87288" y="1554480"/>
            <a:ext cx="26821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333592" y="1664208"/>
            <a:ext cx="238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33592" y="1883664"/>
            <a:ext cx="2389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6766377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94944" y="2971800"/>
            <a:ext cx="6309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TEST CASES — DONE VS PENDING (81 TOTAL)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31520" y="3383280"/>
          <a:ext cx="6126297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497897" y="2788920"/>
            <a:ext cx="4236598" cy="3063240"/>
          </a:xfrm>
          <a:prstGeom prst="roundRect">
            <a:avLst>
              <a:gd name="adj" fmla="val 2388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7735641" y="310896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735641" y="3977640"/>
            <a:ext cx="3761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PLG's 81 Xray test cases verified (Done); 0 pending, 0 blocked.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347472"/>
            <a:ext cx="1067379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&amp; Known Issues — Platform Graphics (PLG)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require Karthik Ramu as BOTH reporter and assignee. Scoped to Platform Graphics (PLG) only.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03504" y="166420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3504" y="212140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V5.2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71152" y="155448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017456" y="166420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DONE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456" y="188366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456" y="212140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V5.2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03504" y="271576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293522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" y="317296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71152" y="2606040"/>
            <a:ext cx="22310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3017456" y="2715768"/>
            <a:ext cx="193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PRIORITY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456" y="2935224"/>
            <a:ext cx="193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17456" y="3172968"/>
            <a:ext cx="193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all 4 are Major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736464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76656" y="3986784"/>
            <a:ext cx="429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— NO OPEN ISSUES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297680"/>
            <a:ext cx="4297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Platform Graphics defects — PLG-2837, PLG-2838, PLG-2839, PLG-2854 — are Major severity and Done. None deferred, none blocked.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13704" y="1554480"/>
            <a:ext cx="6220791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733160" y="1719072"/>
            <a:ext cx="5781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BY PRIORITY (4 TOTAL)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33160" y="1993392"/>
            <a:ext cx="5781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by severity, not by count — Blocker in red, Major in amber.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788024" y="2423160"/>
          <a:ext cx="567215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5.2 · Sprint Demo &amp; QA Readiness Portal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34095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992</Words>
  <Application>Microsoft Office PowerPoint</Application>
  <PresentationFormat>Widescreen</PresentationFormat>
  <Paragraphs>201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</vt:lpstr>
      <vt:lpstr>Inter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Twinit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5.2 — Sprint Demo &amp; QA Readiness Portal</dc:title>
  <dc:subject>PptxGenJS Presentation</dc:subject>
  <dc:creator>Twinit QA</dc:creator>
  <cp:lastModifiedBy>Lavanya Velkur Sankaran</cp:lastModifiedBy>
  <cp:revision>2</cp:revision>
  <dcterms:created xsi:type="dcterms:W3CDTF">2026-08-14T06:25:06Z</dcterms:created>
  <dcterms:modified xsi:type="dcterms:W3CDTF">2026-08-14T06:45:41Z</dcterms:modified>
</cp:coreProperties>
</file>